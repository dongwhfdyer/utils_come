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7"/>
  </p:notesMasterIdLst>
  <p:sldIdLst>
    <p:sldId id="267" r:id="rId2"/>
    <p:sldId id="269" r:id="rId3"/>
    <p:sldId id="268" r:id="rId4"/>
    <p:sldId id="270" r:id="rId5"/>
    <p:sldId id="281" r:id="rId6"/>
    <p:sldId id="274" r:id="rId7"/>
    <p:sldId id="273" r:id="rId8"/>
    <p:sldId id="275" r:id="rId9"/>
    <p:sldId id="283" r:id="rId10"/>
    <p:sldId id="289" r:id="rId11"/>
    <p:sldId id="288" r:id="rId12"/>
    <p:sldId id="282" r:id="rId13"/>
    <p:sldId id="290" r:id="rId14"/>
    <p:sldId id="276" r:id="rId15"/>
    <p:sldId id="278" r:id="rId16"/>
    <p:sldId id="277" r:id="rId17"/>
    <p:sldId id="284" r:id="rId18"/>
    <p:sldId id="285" r:id="rId19"/>
    <p:sldId id="286" r:id="rId20"/>
    <p:sldId id="287" r:id="rId21"/>
    <p:sldId id="271" r:id="rId22"/>
    <p:sldId id="272" r:id="rId23"/>
    <p:sldId id="279" r:id="rId24"/>
    <p:sldId id="280" r:id="rId25"/>
    <p:sldId id="256" r:id="rId26"/>
    <p:sldId id="257" r:id="rId27"/>
    <p:sldId id="258" r:id="rId28"/>
    <p:sldId id="259" r:id="rId29"/>
    <p:sldId id="260" r:id="rId30"/>
    <p:sldId id="261" r:id="rId31"/>
    <p:sldId id="265" r:id="rId32"/>
    <p:sldId id="263" r:id="rId33"/>
    <p:sldId id="264" r:id="rId34"/>
    <p:sldId id="266" r:id="rId35"/>
    <p:sldId id="262" r:id="rId3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336"/>
    <p:restoredTop sz="94716"/>
  </p:normalViewPr>
  <p:slideViewPr>
    <p:cSldViewPr snapToGrid="0">
      <p:cViewPr>
        <p:scale>
          <a:sx n="108" d="100"/>
          <a:sy n="108" d="100"/>
        </p:scale>
        <p:origin x="33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B56D27-B2E7-6146-81CB-DC83FE187251}" type="datetimeFigureOut">
              <a:t>2025/10/21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A92CEE-D132-1449-AB76-7B3BB0E9F6D6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03092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A92CEE-D132-1449-AB76-7B3BB0E9F6D6}" type="slidenum"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351001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84560F-EAF9-2D56-3D90-B3396D2723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719F5B0-9022-9FCA-7480-A1FA0B0C24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DF5830C-1EBE-A935-6E57-7D45DCE98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685BC-FDAC-4144-B12D-82A45C26F951}" type="datetimeFigureOut">
              <a:t>2025/10/11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9C1D4CA-ED9B-B0F9-83B3-0D73934B94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D76E11-9726-9C9F-4A45-D811CD893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BBBF9-06D7-E54D-87CB-007F037604F2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791322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2ED7B8-F084-089C-1AB5-0BC2350E2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344FF7F-B790-AC06-83F2-E8845F99AC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63E29D7-E1EC-435F-8C4C-1B100AD1D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685BC-FDAC-4144-B12D-82A45C26F951}" type="datetimeFigureOut">
              <a:t>2025/10/11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931FA90-9B8E-519C-D7EC-0AACA7259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05FDF23-3F1D-D25C-9074-7B5CCCC33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BBBF9-06D7-E54D-87CB-007F037604F2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679784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B65149-F57E-ACF5-1985-39F2734F4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5FBAAD2-0982-7ACD-C75C-A99018EFA4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908145A-E4E4-6528-7D63-9415B4EAA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685BC-FDAC-4144-B12D-82A45C26F951}" type="datetimeFigureOut">
              <a:t>2025/10/11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186840C-490F-E9F0-EA98-274108A21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1F91A34-B5E7-55B1-B36A-662A6E820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BBBF9-06D7-E54D-87CB-007F037604F2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197380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614473-867E-D169-6337-9EFEDB9DE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5EBCA64-D286-3063-DDA9-D8542A850A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27656FC-C48A-3FE4-C7C3-04E7E73111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EAB0BB1-F3B4-1905-99F9-809BD0D7E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685BC-FDAC-4144-B12D-82A45C26F951}" type="datetimeFigureOut">
              <a:t>2025/10/11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2E16517-E895-5283-0DC5-4B4B3E0CE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A69D0F7-3818-575D-F507-8AF1B51D3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BBBF9-06D7-E54D-87CB-007F037604F2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771852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7CD449-1B1E-6922-63BD-AA9DD3646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F803F83-3B45-00DA-A0DE-2E5489452A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A4CEBBC-ED00-0372-FDFB-1AA8804BEF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2D58851-57E6-807B-A923-F107597228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F45E2EF-5548-3D5E-C5D4-175C4AF547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7B6D9B9-DD6A-F5D9-21EC-AE643FDCBD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685BC-FDAC-4144-B12D-82A45C26F951}" type="datetimeFigureOut">
              <a:t>2025/10/11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EEFC0F9-A439-9258-0431-E6D47E6B5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A92ABF1-36E2-3BB2-A58B-CB899A1F8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BBBF9-06D7-E54D-87CB-007F037604F2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745109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FBE2DD-2B39-9D62-0A45-323F2234F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83F5B55-26BC-928F-057F-3885FDAF5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685BC-FDAC-4144-B12D-82A45C26F951}" type="datetimeFigureOut">
              <a:t>2025/10/11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E3C0E99-220D-C129-E3E1-A939C7AC1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12FC4EC-2F09-7AEA-0A1D-EE394B0BF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BBBF9-06D7-E54D-87CB-007F037604F2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965581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09F0CED-3EDE-E333-FDD2-D3F4155DA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685BC-FDAC-4144-B12D-82A45C26F951}" type="datetimeFigureOut">
              <a:t>2025/10/11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5164368-B3D2-D788-E8E4-8BD910C53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70D8F84-BFB1-42C5-B649-094D9F9A7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BBBF9-06D7-E54D-87CB-007F037604F2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702320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B3D3E6-9679-486B-E357-EDADD06C41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D47A988-3748-DB50-8140-74206FCD4C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B0E86BB-6BB6-7E26-0637-7E0D5286BB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0D37F07-5059-C69A-9CB3-57A428CBF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685BC-FDAC-4144-B12D-82A45C26F951}" type="datetimeFigureOut">
              <a:t>2025/10/11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C82E9EA-231C-F0E9-79A3-00B1E43F1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7ABD17A-7A30-8B69-4CF4-692758E05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BBBF9-06D7-E54D-87CB-007F037604F2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878858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E62452-9AFA-A85A-DDF3-419BCA50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C5BB00F-EB6D-C014-1A96-09218C2C53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DA9D4E3-25AB-1383-9646-33F865A7BD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9C69066-B799-99E4-D450-8D55B5E09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685BC-FDAC-4144-B12D-82A45C26F951}" type="datetimeFigureOut">
              <a:t>2025/10/11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E53C68A-B290-5804-1F53-E0AA9BB07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7BF3388-E37E-FD5B-FDE7-3727AAEE4A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BBBF9-06D7-E54D-87CB-007F037604F2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571426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4050E0-2380-7D64-E460-93F9DBCBF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8D14499-91E5-2F90-AFF4-255931BBBC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1F818C4-46FE-A20E-BB56-3D6F3E363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685BC-FDAC-4144-B12D-82A45C26F951}" type="datetimeFigureOut">
              <a:t>2025/10/11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A6A6FD9-ECFF-4D8C-C1E4-C26404E6E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5351CA9-19C8-07BD-EC5D-20DB1BD5D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BBBF9-06D7-E54D-87CB-007F037604F2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242884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FB0D7AB-A281-3E45-8DBB-DE45D3C95D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4483695-E256-4C09-CD24-6549D72822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B27796C-B52E-A312-26A5-7C3A742A5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685BC-FDAC-4144-B12D-82A45C26F951}" type="datetimeFigureOut">
              <a:t>2025/10/11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BDAD019-6FCD-D687-AAE6-BC3DC90B11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B0A9EDD-4DAE-9116-6D23-3D2FAE6FB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BBBF9-06D7-E54D-87CB-007F037604F2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087627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6EE0829-F286-6292-38BB-52F10BC394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66BB732-AECB-44C6-BD7A-979208E3F5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E1FB248-071B-10AB-B6C7-DC5BBED9E1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F685BC-FDAC-4144-B12D-82A45C26F951}" type="datetimeFigureOut">
              <a:t>2025/10/11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91482D9-1023-638B-3800-4174DAA60A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E2E8F2E-303E-0052-68C9-57178EA064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DBBBF9-06D7-E54D-87CB-007F037604F2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93442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44276-13D2-7DB8-3CD5-50B36463E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CBA423A9-806D-BE3C-8A42-109FD2080C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519" y="819751"/>
            <a:ext cx="10261778" cy="5218498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EDAFD239-3F42-D282-8F13-0BD79649D049}"/>
              </a:ext>
            </a:extLst>
          </p:cNvPr>
          <p:cNvSpPr txBox="1"/>
          <p:nvPr/>
        </p:nvSpPr>
        <p:spPr>
          <a:xfrm>
            <a:off x="1330036" y="320634"/>
            <a:ext cx="30187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/>
              <a:t>音频语言模型的演进时间线</a:t>
            </a:r>
          </a:p>
        </p:txBody>
      </p:sp>
    </p:spTree>
    <p:extLst>
      <p:ext uri="{BB962C8B-B14F-4D97-AF65-F5344CB8AC3E}">
        <p14:creationId xmlns:p14="http://schemas.microsoft.com/office/powerpoint/2010/main" val="23342413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DD0EA8-7087-2728-97BA-C7BDAC37B0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2AE013C9-6453-ED42-E493-D62041EC29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254" y="1070746"/>
            <a:ext cx="5940552" cy="4095020"/>
          </a:xfrm>
          <a:prstGeom prst="rect">
            <a:avLst/>
          </a:prstGeom>
        </p:spPr>
      </p:pic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2A6FDF11-E098-927C-A164-72B1014993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1129273"/>
              </p:ext>
            </p:extLst>
          </p:nvPr>
        </p:nvGraphicFramePr>
        <p:xfrm>
          <a:off x="7105323" y="1929536"/>
          <a:ext cx="4805628" cy="18288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601876">
                  <a:extLst>
                    <a:ext uri="{9D8B030D-6E8A-4147-A177-3AD203B41FA5}">
                      <a16:colId xmlns:a16="http://schemas.microsoft.com/office/drawing/2014/main" val="224479990"/>
                    </a:ext>
                  </a:extLst>
                </a:gridCol>
                <a:gridCol w="1601876">
                  <a:extLst>
                    <a:ext uri="{9D8B030D-6E8A-4147-A177-3AD203B41FA5}">
                      <a16:colId xmlns:a16="http://schemas.microsoft.com/office/drawing/2014/main" val="556073120"/>
                    </a:ext>
                  </a:extLst>
                </a:gridCol>
                <a:gridCol w="1601876">
                  <a:extLst>
                    <a:ext uri="{9D8B030D-6E8A-4147-A177-3AD203B41FA5}">
                      <a16:colId xmlns:a16="http://schemas.microsoft.com/office/drawing/2014/main" val="37244871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 b="1">
                          <a:effectLst/>
                        </a:rPr>
                        <a:t>阶段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 b="1">
                          <a:effectLst/>
                        </a:rPr>
                        <a:t>目标类型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 b="1">
                          <a:effectLst/>
                        </a:rPr>
                        <a:t>目的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489516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 b="1">
                          <a:effectLst/>
                        </a:rPr>
                        <a:t>预训练</a:t>
                      </a:r>
                      <a:endParaRPr lang="zh-CN" altLang="en-US" sz="1200" b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 b="1">
                          <a:effectLst/>
                        </a:rPr>
                        <a:t>对比学习</a:t>
                      </a:r>
                      <a:endParaRPr lang="zh-CN" altLang="en-US" sz="1200" b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 b="0">
                          <a:effectLst/>
                        </a:rPr>
                        <a:t>学习音频和文本之间的语义对齐。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274040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 b="1">
                          <a:effectLst/>
                        </a:rPr>
                        <a:t>预训练</a:t>
                      </a:r>
                      <a:endParaRPr lang="zh-CN" altLang="en-US" sz="1200" b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 b="1">
                          <a:effectLst/>
                        </a:rPr>
                        <a:t>生成式学习</a:t>
                      </a:r>
                      <a:endParaRPr lang="zh-CN" altLang="en-US" sz="1200" b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 b="0">
                          <a:effectLst/>
                        </a:rPr>
                        <a:t>学习重建或创造数据以获得更深层次的理解。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63302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 b="1">
                          <a:effectLst/>
                        </a:rPr>
                        <a:t>预训练</a:t>
                      </a:r>
                      <a:endParaRPr lang="zh-CN" altLang="en-US" sz="1200" b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 b="1">
                          <a:effectLst/>
                        </a:rPr>
                        <a:t>判别式学习</a:t>
                      </a:r>
                      <a:endParaRPr lang="zh-CN" altLang="en-US" sz="1200" b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 b="0">
                          <a:effectLst/>
                        </a:rPr>
                        <a:t>学习简单分类音频与文本的关系。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58906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42416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750367-1C41-8B0D-190E-02C22F5BA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0AC07FC0-4F84-7A7F-B7BA-1378F59846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7240633"/>
              </p:ext>
            </p:extLst>
          </p:nvPr>
        </p:nvGraphicFramePr>
        <p:xfrm>
          <a:off x="1680357" y="1253331"/>
          <a:ext cx="7190508" cy="435133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797627">
                  <a:extLst>
                    <a:ext uri="{9D8B030D-6E8A-4147-A177-3AD203B41FA5}">
                      <a16:colId xmlns:a16="http://schemas.microsoft.com/office/drawing/2014/main" val="4289507222"/>
                    </a:ext>
                  </a:extLst>
                </a:gridCol>
                <a:gridCol w="1797627">
                  <a:extLst>
                    <a:ext uri="{9D8B030D-6E8A-4147-A177-3AD203B41FA5}">
                      <a16:colId xmlns:a16="http://schemas.microsoft.com/office/drawing/2014/main" val="2436091294"/>
                    </a:ext>
                  </a:extLst>
                </a:gridCol>
                <a:gridCol w="1797627">
                  <a:extLst>
                    <a:ext uri="{9D8B030D-6E8A-4147-A177-3AD203B41FA5}">
                      <a16:colId xmlns:a16="http://schemas.microsoft.com/office/drawing/2014/main" val="3106675215"/>
                    </a:ext>
                  </a:extLst>
                </a:gridCol>
                <a:gridCol w="1797627">
                  <a:extLst>
                    <a:ext uri="{9D8B030D-6E8A-4147-A177-3AD203B41FA5}">
                      <a16:colId xmlns:a16="http://schemas.microsoft.com/office/drawing/2014/main" val="2071154322"/>
                    </a:ext>
                  </a:extLst>
                </a:gridCol>
              </a:tblGrid>
              <a:tr h="274409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000" b="1">
                          <a:effectLst/>
                        </a:rPr>
                        <a:t>模型</a:t>
                      </a:r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1">
                          <a:effectLst/>
                        </a:rPr>
                        <a:t>CLAP </a:t>
                      </a:r>
                      <a:r>
                        <a:rPr lang="zh-CN" altLang="en-US" sz="1000" b="1">
                          <a:effectLst/>
                        </a:rPr>
                        <a:t>核心系列？</a:t>
                      </a:r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000" b="1">
                          <a:effectLst/>
                        </a:rPr>
                        <a:t>关键贡献</a:t>
                      </a:r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000" b="1">
                          <a:effectLst/>
                        </a:rPr>
                        <a:t>目标</a:t>
                      </a:r>
                    </a:p>
                  </a:txBody>
                  <a:tcPr marL="39201" marR="39201" marT="19601" marB="19601" anchor="ctr"/>
                </a:tc>
                <a:extLst>
                  <a:ext uri="{0D108BD9-81ED-4DB2-BD59-A6C34878D82A}">
                    <a16:rowId xmlns:a16="http://schemas.microsoft.com/office/drawing/2014/main" val="351272764"/>
                  </a:ext>
                </a:extLst>
              </a:tr>
              <a:tr h="509616">
                <a:tc>
                  <a:txBody>
                    <a:bodyPr/>
                    <a:lstStyle/>
                    <a:p>
                      <a:r>
                        <a:rPr lang="en-US" sz="1000" b="0">
                          <a:effectLst/>
                        </a:rPr>
                        <a:t>MS-CLAP [2]</a:t>
                      </a:r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r>
                        <a:rPr lang="zh-CN" altLang="en-US" sz="1000" b="0">
                          <a:effectLst/>
                        </a:rPr>
                        <a:t>是</a:t>
                      </a:r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r>
                        <a:rPr lang="zh-CN" altLang="en-US" sz="1000" b="0">
                          <a:effectLst/>
                        </a:rPr>
                        <a:t>首次提出对比学习用于</a:t>
                      </a:r>
                      <a:r>
                        <a:rPr lang="en-US" sz="1000" b="0">
                          <a:effectLst/>
                        </a:rPr>
                        <a:t>ALM</a:t>
                      </a:r>
                      <a:r>
                        <a:rPr lang="zh-CN" altLang="en-US" sz="1000" b="0">
                          <a:effectLst/>
                        </a:rPr>
                        <a:t>预训练</a:t>
                      </a:r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r>
                        <a:rPr lang="zh-CN" altLang="en-US" sz="1000" b="0">
                          <a:effectLst/>
                        </a:rPr>
                        <a:t>对比</a:t>
                      </a:r>
                    </a:p>
                  </a:txBody>
                  <a:tcPr marL="39201" marR="39201" marT="19601" marB="19601" anchor="ctr"/>
                </a:tc>
                <a:extLst>
                  <a:ext uri="{0D108BD9-81ED-4DB2-BD59-A6C34878D82A}">
                    <a16:rowId xmlns:a16="http://schemas.microsoft.com/office/drawing/2014/main" val="625303545"/>
                  </a:ext>
                </a:extLst>
              </a:tr>
              <a:tr h="392012">
                <a:tc>
                  <a:txBody>
                    <a:bodyPr/>
                    <a:lstStyle/>
                    <a:p>
                      <a:r>
                        <a:rPr lang="en-US" sz="1000" b="0">
                          <a:effectLst/>
                        </a:rPr>
                        <a:t>LAION-CLAP [22]</a:t>
                      </a:r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r>
                        <a:rPr lang="zh-CN" altLang="en-US" sz="1000" b="0">
                          <a:effectLst/>
                        </a:rPr>
                        <a:t>是</a:t>
                      </a:r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r>
                        <a:rPr lang="zh-CN" altLang="en-US" sz="1000" b="0">
                          <a:effectLst/>
                        </a:rPr>
                        <a:t>首个完全开源的</a:t>
                      </a:r>
                      <a:r>
                        <a:rPr lang="en-US" sz="1000" b="0">
                          <a:effectLst/>
                        </a:rPr>
                        <a:t>CLAP</a:t>
                      </a:r>
                      <a:r>
                        <a:rPr lang="zh-CN" altLang="en-US" sz="1000" b="0">
                          <a:effectLst/>
                        </a:rPr>
                        <a:t>模型</a:t>
                      </a:r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r>
                        <a:rPr lang="zh-CN" altLang="en-US" sz="1000" b="0">
                          <a:effectLst/>
                        </a:rPr>
                        <a:t>对比</a:t>
                      </a:r>
                    </a:p>
                  </a:txBody>
                  <a:tcPr marL="39201" marR="39201" marT="19601" marB="19601" anchor="ctr"/>
                </a:tc>
                <a:extLst>
                  <a:ext uri="{0D108BD9-81ED-4DB2-BD59-A6C34878D82A}">
                    <a16:rowId xmlns:a16="http://schemas.microsoft.com/office/drawing/2014/main" val="4282391300"/>
                  </a:ext>
                </a:extLst>
              </a:tr>
              <a:tr h="744824">
                <a:tc>
                  <a:txBody>
                    <a:bodyPr/>
                    <a:lstStyle/>
                    <a:p>
                      <a:r>
                        <a:rPr lang="en-US" sz="1000" b="0">
                          <a:effectLst/>
                        </a:rPr>
                        <a:t>MS-CLAP V2 [50]</a:t>
                      </a:r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r>
                        <a:rPr lang="zh-CN" altLang="en-US" sz="1000" b="0">
                          <a:effectLst/>
                        </a:rPr>
                        <a:t>是</a:t>
                      </a:r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r>
                        <a:rPr lang="zh-CN" altLang="en-US" sz="1000" b="0">
                          <a:effectLst/>
                        </a:rPr>
                        <a:t>通过使用多任务音频编码器和更大的数据集进行扩展</a:t>
                      </a:r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r>
                        <a:rPr lang="zh-CN" altLang="en-US" sz="1000" b="0">
                          <a:effectLst/>
                        </a:rPr>
                        <a:t>对比</a:t>
                      </a:r>
                    </a:p>
                  </a:txBody>
                  <a:tcPr marL="39201" marR="39201" marT="19601" marB="19601" anchor="ctr"/>
                </a:tc>
                <a:extLst>
                  <a:ext uri="{0D108BD9-81ED-4DB2-BD59-A6C34878D82A}">
                    <a16:rowId xmlns:a16="http://schemas.microsoft.com/office/drawing/2014/main" val="494439440"/>
                  </a:ext>
                </a:extLst>
              </a:tr>
              <a:tr h="627220">
                <a:tc>
                  <a:txBody>
                    <a:bodyPr/>
                    <a:lstStyle/>
                    <a:p>
                      <a:r>
                        <a:rPr lang="en-US" sz="1000" b="0">
                          <a:effectLst/>
                        </a:rPr>
                        <a:t>BLAT [73]</a:t>
                      </a:r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r>
                        <a:rPr lang="zh-CN" altLang="en-US" sz="1000" b="0">
                          <a:effectLst/>
                        </a:rPr>
                        <a:t>变体（数据）</a:t>
                      </a:r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r>
                        <a:rPr lang="zh-CN" altLang="en-US" sz="1000" b="0">
                          <a:effectLst/>
                        </a:rPr>
                        <a:t>使用音频字幕生成合成数据用于预训练</a:t>
                      </a:r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r>
                        <a:rPr lang="zh-CN" altLang="en-US" sz="1000" b="0">
                          <a:effectLst/>
                        </a:rPr>
                        <a:t>对比</a:t>
                      </a:r>
                    </a:p>
                  </a:txBody>
                  <a:tcPr marL="39201" marR="39201" marT="19601" marB="19601" anchor="ctr"/>
                </a:tc>
                <a:extLst>
                  <a:ext uri="{0D108BD9-81ED-4DB2-BD59-A6C34878D82A}">
                    <a16:rowId xmlns:a16="http://schemas.microsoft.com/office/drawing/2014/main" val="3243889890"/>
                  </a:ext>
                </a:extLst>
              </a:tr>
              <a:tr h="509616">
                <a:tc>
                  <a:txBody>
                    <a:bodyPr/>
                    <a:lstStyle/>
                    <a:p>
                      <a:r>
                        <a:rPr lang="en-US" sz="1000" b="0">
                          <a:effectLst/>
                        </a:rPr>
                        <a:t>ACBA [74]</a:t>
                      </a:r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r>
                        <a:rPr lang="zh-CN" altLang="en-US" sz="1000" b="0">
                          <a:effectLst/>
                        </a:rPr>
                        <a:t>变体（能力）</a:t>
                      </a:r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r>
                        <a:rPr lang="zh-CN" altLang="en-US" sz="1000" b="0">
                          <a:effectLst/>
                        </a:rPr>
                        <a:t>增强声音事件间的顺序关系建模</a:t>
                      </a:r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r>
                        <a:rPr lang="zh-CN" altLang="en-US" sz="1000" b="0">
                          <a:effectLst/>
                        </a:rPr>
                        <a:t>对比</a:t>
                      </a:r>
                    </a:p>
                  </a:txBody>
                  <a:tcPr marL="39201" marR="39201" marT="19601" marB="19601" anchor="ctr"/>
                </a:tc>
                <a:extLst>
                  <a:ext uri="{0D108BD9-81ED-4DB2-BD59-A6C34878D82A}">
                    <a16:rowId xmlns:a16="http://schemas.microsoft.com/office/drawing/2014/main" val="2610224151"/>
                  </a:ext>
                </a:extLst>
              </a:tr>
              <a:tr h="274409">
                <a:tc>
                  <a:txBody>
                    <a:bodyPr/>
                    <a:lstStyle/>
                    <a:p>
                      <a:r>
                        <a:rPr lang="en-US" sz="1000" b="0">
                          <a:effectLst/>
                        </a:rPr>
                        <a:t>COMPA [26]</a:t>
                      </a:r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r>
                        <a:rPr lang="zh-CN" altLang="en-US" sz="1000" b="0">
                          <a:effectLst/>
                        </a:rPr>
                        <a:t>变体（能力）</a:t>
                      </a:r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r>
                        <a:rPr lang="zh-CN" altLang="en-US" sz="1000" b="0">
                          <a:effectLst/>
                        </a:rPr>
                        <a:t>增强组合推理能力</a:t>
                      </a:r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r>
                        <a:rPr lang="zh-CN" altLang="en-US" sz="1000" b="0">
                          <a:effectLst/>
                        </a:rPr>
                        <a:t>对比</a:t>
                      </a:r>
                    </a:p>
                  </a:txBody>
                  <a:tcPr marL="39201" marR="39201" marT="19601" marB="19601" anchor="ctr"/>
                </a:tc>
                <a:extLst>
                  <a:ext uri="{0D108BD9-81ED-4DB2-BD59-A6C34878D82A}">
                    <a16:rowId xmlns:a16="http://schemas.microsoft.com/office/drawing/2014/main" val="3323095011"/>
                  </a:ext>
                </a:extLst>
              </a:tr>
              <a:tr h="509616">
                <a:tc>
                  <a:txBody>
                    <a:bodyPr/>
                    <a:lstStyle/>
                    <a:p>
                      <a:r>
                        <a:rPr lang="en-US" sz="1000" b="0">
                          <a:effectLst/>
                        </a:rPr>
                        <a:t>MGA-CLAP [75]</a:t>
                      </a:r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r>
                        <a:rPr lang="zh-CN" altLang="en-US" sz="1000" b="0">
                          <a:effectLst/>
                        </a:rPr>
                        <a:t>变体（架构）</a:t>
                      </a:r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r>
                        <a:rPr lang="zh-CN" altLang="en-US" sz="1000" b="0">
                          <a:effectLst/>
                        </a:rPr>
                        <a:t>通过共享代码本统一模态粒度</a:t>
                      </a:r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r>
                        <a:rPr lang="zh-CN" altLang="en-US" sz="1000" b="0">
                          <a:effectLst/>
                        </a:rPr>
                        <a:t>对比</a:t>
                      </a:r>
                    </a:p>
                  </a:txBody>
                  <a:tcPr marL="39201" marR="39201" marT="19601" marB="19601" anchor="ctr"/>
                </a:tc>
                <a:extLst>
                  <a:ext uri="{0D108BD9-81ED-4DB2-BD59-A6C34878D82A}">
                    <a16:rowId xmlns:a16="http://schemas.microsoft.com/office/drawing/2014/main" val="3004991862"/>
                  </a:ext>
                </a:extLst>
              </a:tr>
              <a:tr h="509616">
                <a:tc>
                  <a:txBody>
                    <a:bodyPr/>
                    <a:lstStyle/>
                    <a:p>
                      <a:r>
                        <a:rPr lang="en-US" sz="1000" b="0">
                          <a:effectLst/>
                        </a:rPr>
                        <a:t>MusCALL [76]</a:t>
                      </a:r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r>
                        <a:rPr lang="zh-CN" altLang="en-US" sz="1000" b="0">
                          <a:effectLst/>
                        </a:rPr>
                        <a:t>变体（领域）</a:t>
                      </a:r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r>
                        <a:rPr lang="zh-CN" altLang="en-US" sz="1000" b="0">
                          <a:effectLst/>
                        </a:rPr>
                        <a:t>专为在音乐领域实现强大性能</a:t>
                      </a:r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r>
                        <a:rPr lang="zh-CN" altLang="en-US" sz="1000" b="0">
                          <a:effectLst/>
                        </a:rPr>
                        <a:t>对比</a:t>
                      </a:r>
                    </a:p>
                  </a:txBody>
                  <a:tcPr marL="39201" marR="39201" marT="19601" marB="19601" anchor="ctr"/>
                </a:tc>
                <a:extLst>
                  <a:ext uri="{0D108BD9-81ED-4DB2-BD59-A6C34878D82A}">
                    <a16:rowId xmlns:a16="http://schemas.microsoft.com/office/drawing/2014/main" val="16704187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42019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71A90E-1248-BDE0-356D-37FFC614A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86DAA6EE-A25E-CC65-A706-239E6EE362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7245605"/>
              </p:ext>
            </p:extLst>
          </p:nvPr>
        </p:nvGraphicFramePr>
        <p:xfrm>
          <a:off x="1219262" y="1832102"/>
          <a:ext cx="7877175" cy="256032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257300">
                  <a:extLst>
                    <a:ext uri="{9D8B030D-6E8A-4147-A177-3AD203B41FA5}">
                      <a16:colId xmlns:a16="http://schemas.microsoft.com/office/drawing/2014/main" val="2622218346"/>
                    </a:ext>
                  </a:extLst>
                </a:gridCol>
                <a:gridCol w="2028825">
                  <a:extLst>
                    <a:ext uri="{9D8B030D-6E8A-4147-A177-3AD203B41FA5}">
                      <a16:colId xmlns:a16="http://schemas.microsoft.com/office/drawing/2014/main" val="173977057"/>
                    </a:ext>
                  </a:extLst>
                </a:gridCol>
                <a:gridCol w="4591050">
                  <a:extLst>
                    <a:ext uri="{9D8B030D-6E8A-4147-A177-3AD203B41FA5}">
                      <a16:colId xmlns:a16="http://schemas.microsoft.com/office/drawing/2014/main" val="319604459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200" b="1">
                          <a:solidFill>
                            <a:schemeClr val="tx1"/>
                          </a:solidFill>
                          <a:effectLst/>
                        </a:rPr>
                        <a:t>方面</a:t>
                      </a:r>
                      <a:endParaRPr lang="zh-CN" altLang="en-US" sz="1200" b="1" i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en-US" sz="1200" b="1">
                          <a:solidFill>
                            <a:schemeClr val="tx1"/>
                          </a:solidFill>
                          <a:effectLst/>
                        </a:rPr>
                        <a:t>CLAP v1（2022）</a:t>
                      </a:r>
                      <a:endParaRPr lang="en-US" sz="1200" b="1" i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en-US" sz="1200" b="1">
                          <a:solidFill>
                            <a:schemeClr val="tx1"/>
                          </a:solidFill>
                          <a:effectLst/>
                        </a:rPr>
                        <a:t>CLAP v2（2023）</a:t>
                      </a:r>
                      <a:endParaRPr lang="en-US" sz="1200" b="1" i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56711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ctr" latinLnBrk="0"/>
                      <a:r>
                        <a:rPr lang="zh-CN" altLang="en-US" sz="1200" b="0">
                          <a:solidFill>
                            <a:schemeClr val="tx1"/>
                          </a:solidFill>
                          <a:effectLst/>
                        </a:rPr>
                        <a:t>训练数据规模</a:t>
                      </a:r>
                      <a:endParaRPr lang="zh-CN" altLang="en-US" sz="1200" b="0" i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en-US" altLang="zh-CN" sz="1200" b="0">
                          <a:solidFill>
                            <a:schemeClr val="tx1"/>
                          </a:solidFill>
                          <a:effectLst/>
                        </a:rPr>
                        <a:t>12.8</a:t>
                      </a:r>
                      <a:r>
                        <a:rPr lang="zh-CN" altLang="en-US" sz="1200" b="0">
                          <a:solidFill>
                            <a:schemeClr val="tx1"/>
                          </a:solidFill>
                          <a:effectLst/>
                        </a:rPr>
                        <a:t>万 音频</a:t>
                      </a:r>
                      <a:r>
                        <a:rPr lang="en-US" altLang="zh-CN" sz="1200" b="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r>
                        <a:rPr lang="zh-CN" altLang="en-US" sz="1200" b="0">
                          <a:solidFill>
                            <a:schemeClr val="tx1"/>
                          </a:solidFill>
                          <a:effectLst/>
                        </a:rPr>
                        <a:t>文本对</a:t>
                      </a:r>
                      <a:endParaRPr lang="zh-CN" altLang="en-US" sz="1200" b="0" i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en-US" altLang="zh-CN" sz="1200" b="0">
                          <a:solidFill>
                            <a:schemeClr val="tx1"/>
                          </a:solidFill>
                          <a:effectLst/>
                        </a:rPr>
                        <a:t>460</a:t>
                      </a:r>
                      <a:r>
                        <a:rPr lang="zh-CN" altLang="en-US" sz="1200" b="0">
                          <a:solidFill>
                            <a:schemeClr val="tx1"/>
                          </a:solidFill>
                          <a:effectLst/>
                        </a:rPr>
                        <a:t>万 音频</a:t>
                      </a:r>
                      <a:r>
                        <a:rPr lang="en-US" altLang="zh-CN" sz="1200" b="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r>
                        <a:rPr lang="zh-CN" altLang="en-US" sz="1200" b="0">
                          <a:solidFill>
                            <a:schemeClr val="tx1"/>
                          </a:solidFill>
                          <a:effectLst/>
                        </a:rPr>
                        <a:t>文本对</a:t>
                      </a:r>
                      <a:endParaRPr lang="zh-CN" altLang="en-US" sz="1200" b="0" i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216062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ctr" latinLnBrk="0"/>
                      <a:r>
                        <a:rPr lang="zh-CN" altLang="en-US" sz="1200" b="0">
                          <a:solidFill>
                            <a:schemeClr val="tx1"/>
                          </a:solidFill>
                          <a:effectLst/>
                        </a:rPr>
                        <a:t>训练数据来源补充</a:t>
                      </a:r>
                      <a:endParaRPr lang="zh-CN" altLang="en-US" sz="1200" b="0" i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zh-CN" altLang="en-US" sz="1200" b="0">
                          <a:solidFill>
                            <a:schemeClr val="tx1"/>
                          </a:solidFill>
                          <a:effectLst/>
                        </a:rPr>
                        <a:t>主要来自 </a:t>
                      </a: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</a:rPr>
                        <a:t>FSD50k、ClothoV2、AudioCaps、MACS</a:t>
                      </a:r>
                      <a:endParaRPr lang="en-US" sz="1200" b="0" i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zh-CN" altLang="en-US" sz="1200" b="0">
                          <a:solidFill>
                            <a:schemeClr val="tx1"/>
                          </a:solidFill>
                          <a:effectLst/>
                        </a:rPr>
                        <a:t>扩展至 </a:t>
                      </a:r>
                      <a:r>
                        <a:rPr lang="en-US" altLang="zh-CN" sz="1200" b="0">
                          <a:solidFill>
                            <a:schemeClr val="tx1"/>
                          </a:solidFill>
                          <a:effectLst/>
                        </a:rPr>
                        <a:t>20+ </a:t>
                      </a:r>
                      <a:r>
                        <a:rPr lang="zh-CN" altLang="en-US" sz="1200" b="0">
                          <a:solidFill>
                            <a:schemeClr val="tx1"/>
                          </a:solidFill>
                          <a:effectLst/>
                        </a:rPr>
                        <a:t>数据集：</a:t>
                      </a: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</a:rPr>
                        <a:t>WavCaps、AudioSet、WavText5k、SoundDesc、NSynth、FMA、MOSI、MELD、IEMOCAP，</a:t>
                      </a:r>
                      <a:r>
                        <a:rPr lang="zh-CN" altLang="en-US" sz="1200" b="0">
                          <a:solidFill>
                            <a:schemeClr val="tx1"/>
                          </a:solidFill>
                          <a:effectLst/>
                        </a:rPr>
                        <a:t>以及多种音乐</a:t>
                      </a:r>
                      <a:r>
                        <a:rPr lang="en-US" altLang="zh-CN" sz="1200" b="0">
                          <a:solidFill>
                            <a:schemeClr val="tx1"/>
                          </a:solidFill>
                          <a:effectLst/>
                        </a:rPr>
                        <a:t>/</a:t>
                      </a:r>
                      <a:r>
                        <a:rPr lang="zh-CN" altLang="en-US" sz="1200" b="0">
                          <a:solidFill>
                            <a:schemeClr val="tx1"/>
                          </a:solidFill>
                          <a:effectLst/>
                        </a:rPr>
                        <a:t>语音</a:t>
                      </a:r>
                      <a:r>
                        <a:rPr lang="en-US" altLang="zh-CN" sz="1200" b="0">
                          <a:solidFill>
                            <a:schemeClr val="tx1"/>
                          </a:solidFill>
                          <a:effectLst/>
                        </a:rPr>
                        <a:t>/</a:t>
                      </a:r>
                      <a:r>
                        <a:rPr lang="zh-CN" altLang="en-US" sz="1200" b="0">
                          <a:solidFill>
                            <a:schemeClr val="tx1"/>
                          </a:solidFill>
                          <a:effectLst/>
                        </a:rPr>
                        <a:t>视频衍生数据集</a:t>
                      </a:r>
                      <a:endParaRPr lang="zh-CN" altLang="en-US" sz="1200" b="0" i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9579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ctr" latinLnBrk="0"/>
                      <a:r>
                        <a:rPr lang="zh-CN" altLang="en-US" sz="1200" b="0">
                          <a:solidFill>
                            <a:schemeClr val="tx1"/>
                          </a:solidFill>
                          <a:effectLst/>
                        </a:rPr>
                        <a:t>音频编码器</a:t>
                      </a:r>
                      <a:endParaRPr lang="zh-CN" altLang="en-US" sz="1200" b="0" i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</a:rPr>
                        <a:t>CNN14（CNN）</a:t>
                      </a:r>
                      <a:endParaRPr lang="en-US" sz="1200" b="0" i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</a:rPr>
                        <a:t>HTSAT-22（Transformer，</a:t>
                      </a:r>
                      <a:r>
                        <a:rPr lang="zh-CN" altLang="en-US" sz="1200" b="0">
                          <a:solidFill>
                            <a:schemeClr val="tx1"/>
                          </a:solidFill>
                          <a:effectLst/>
                        </a:rPr>
                        <a:t>多任务预训练，层次化</a:t>
                      </a: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</a:rPr>
                        <a:t>token-</a:t>
                      </a:r>
                      <a:r>
                        <a:rPr lang="zh-CN" altLang="en-US" sz="1200" b="0">
                          <a:solidFill>
                            <a:schemeClr val="tx1"/>
                          </a:solidFill>
                          <a:effectLst/>
                        </a:rPr>
                        <a:t>语义建模）</a:t>
                      </a:r>
                      <a:endParaRPr lang="zh-CN" altLang="en-US" sz="1200" b="0" i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329075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ctr" latinLnBrk="0"/>
                      <a:r>
                        <a:rPr lang="zh-CN" altLang="en-US" sz="1200" b="0">
                          <a:solidFill>
                            <a:schemeClr val="tx1"/>
                          </a:solidFill>
                          <a:effectLst/>
                        </a:rPr>
                        <a:t>文本编码器</a:t>
                      </a:r>
                      <a:endParaRPr lang="zh-CN" altLang="en-US" sz="1200" b="0" i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</a:rPr>
                        <a:t>BERT base（</a:t>
                      </a:r>
                      <a:r>
                        <a:rPr lang="zh-CN" altLang="en-US" sz="1200" b="0">
                          <a:solidFill>
                            <a:schemeClr val="tx1"/>
                          </a:solidFill>
                          <a:effectLst/>
                        </a:rPr>
                        <a:t>仅编码器）</a:t>
                      </a:r>
                      <a:endParaRPr lang="zh-CN" altLang="en-US" sz="1200" b="0" i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</a:rPr>
                        <a:t>GPT-2（</a:t>
                      </a:r>
                      <a:r>
                        <a:rPr lang="zh-CN" altLang="en-US" sz="1200" b="0">
                          <a:solidFill>
                            <a:schemeClr val="tx1"/>
                          </a:solidFill>
                          <a:effectLst/>
                        </a:rPr>
                        <a:t>仅解码器，自回归）</a:t>
                      </a:r>
                      <a:endParaRPr lang="zh-CN" altLang="en-US" sz="1200" b="0" i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24028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ctr" latinLnBrk="0"/>
                      <a:r>
                        <a:rPr lang="zh-CN" altLang="en-US" sz="1200" b="0">
                          <a:solidFill>
                            <a:schemeClr val="tx1"/>
                          </a:solidFill>
                          <a:effectLst/>
                        </a:rPr>
                        <a:t>模型组合尝试</a:t>
                      </a:r>
                      <a:endParaRPr lang="zh-CN" altLang="en-US" sz="1200" b="0" i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zh-CN" altLang="en-US" sz="1200" b="0">
                          <a:solidFill>
                            <a:schemeClr val="tx1"/>
                          </a:solidFill>
                          <a:effectLst/>
                        </a:rPr>
                        <a:t>较少（单一音频编码器 </a:t>
                      </a:r>
                      <a:r>
                        <a:rPr lang="en-US" altLang="zh-CN" sz="1200" b="0">
                          <a:solidFill>
                            <a:schemeClr val="tx1"/>
                          </a:solidFill>
                          <a:effectLst/>
                        </a:rPr>
                        <a:t>+ </a:t>
                      </a:r>
                      <a:r>
                        <a:rPr lang="zh-CN" altLang="en-US" sz="1200" b="0">
                          <a:solidFill>
                            <a:schemeClr val="tx1"/>
                          </a:solidFill>
                          <a:effectLst/>
                        </a:rPr>
                        <a:t>单一文本编码器）</a:t>
                      </a:r>
                      <a:endParaRPr lang="zh-CN" altLang="en-US" sz="1200" b="0" i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zh-CN" altLang="en-US" sz="1200" b="0">
                          <a:solidFill>
                            <a:schemeClr val="tx1"/>
                          </a:solidFill>
                          <a:effectLst/>
                        </a:rPr>
                        <a:t>多种组合验证：</a:t>
                      </a: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</a:rPr>
                        <a:t>HTSAT-22 + GPT-2 </a:t>
                      </a:r>
                      <a:r>
                        <a:rPr lang="zh-CN" altLang="en-US" sz="1200" b="0">
                          <a:solidFill>
                            <a:schemeClr val="tx1"/>
                          </a:solidFill>
                          <a:effectLst/>
                        </a:rPr>
                        <a:t>为主；也对 </a:t>
                      </a: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</a:rPr>
                        <a:t>RoBERTa/DeBERTa </a:t>
                      </a:r>
                      <a:r>
                        <a:rPr lang="zh-CN" altLang="en-US" sz="1200" b="0">
                          <a:solidFill>
                            <a:schemeClr val="tx1"/>
                          </a:solidFill>
                          <a:effectLst/>
                        </a:rPr>
                        <a:t>等文本编码器与不同规模 </a:t>
                      </a: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</a:rPr>
                        <a:t>HTSAT </a:t>
                      </a:r>
                      <a:r>
                        <a:rPr lang="zh-CN" altLang="en-US" sz="1200" b="0">
                          <a:solidFill>
                            <a:schemeClr val="tx1"/>
                          </a:solidFill>
                          <a:effectLst/>
                        </a:rPr>
                        <a:t>变体进行对比；发现“</a:t>
                      </a: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</a:rPr>
                        <a:t>HTSAT-22 </a:t>
                      </a:r>
                      <a:r>
                        <a:rPr lang="zh-CN" altLang="en-US" sz="1200" b="0">
                          <a:solidFill>
                            <a:schemeClr val="tx1"/>
                          </a:solidFill>
                          <a:effectLst/>
                        </a:rPr>
                        <a:t>贡献最大，</a:t>
                      </a: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</a:rPr>
                        <a:t>GPT-2 </a:t>
                      </a:r>
                      <a:r>
                        <a:rPr lang="zh-CN" altLang="en-US" sz="1200" b="0">
                          <a:solidFill>
                            <a:schemeClr val="tx1"/>
                          </a:solidFill>
                          <a:effectLst/>
                        </a:rPr>
                        <a:t>优于 </a:t>
                      </a: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</a:rPr>
                        <a:t>RoBERTa/</a:t>
                      </a:r>
                      <a:r>
                        <a:rPr lang="zh-CN" altLang="en-US" sz="1200" b="0">
                          <a:solidFill>
                            <a:schemeClr val="tx1"/>
                          </a:solidFill>
                          <a:effectLst/>
                        </a:rPr>
                        <a:t>编码器式模型”，并评估冻结</a:t>
                      </a:r>
                      <a:r>
                        <a:rPr lang="en-US" altLang="zh-CN" sz="1200" b="0">
                          <a:solidFill>
                            <a:schemeClr val="tx1"/>
                          </a:solidFill>
                          <a:effectLst/>
                        </a:rPr>
                        <a:t>/</a:t>
                      </a:r>
                      <a:r>
                        <a:rPr lang="zh-CN" altLang="en-US" sz="1200" b="0">
                          <a:solidFill>
                            <a:schemeClr val="tx1"/>
                          </a:solidFill>
                          <a:effectLst/>
                        </a:rPr>
                        <a:t>解冻策略与多任务预训练对齐效果</a:t>
                      </a:r>
                      <a:endParaRPr lang="zh-CN" altLang="en-US" sz="1200" b="0" i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3399875"/>
                  </a:ext>
                </a:extLst>
              </a:tr>
            </a:tbl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28DCE38F-9EDA-5D1A-792C-60B561317FCB}"/>
              </a:ext>
            </a:extLst>
          </p:cNvPr>
          <p:cNvSpPr txBox="1"/>
          <p:nvPr/>
        </p:nvSpPr>
        <p:spPr>
          <a:xfrm>
            <a:off x="1350819" y="610981"/>
            <a:ext cx="60979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/>
              <a:t>微软的</a:t>
            </a:r>
            <a:r>
              <a:rPr lang="en-US" altLang="zh-CN" b="1"/>
              <a:t>CLAP </a:t>
            </a:r>
            <a:r>
              <a:rPr lang="zh-CN" altLang="en-US" b="1"/>
              <a:t>版本的演进</a:t>
            </a:r>
          </a:p>
        </p:txBody>
      </p:sp>
    </p:spTree>
    <p:extLst>
      <p:ext uri="{BB962C8B-B14F-4D97-AF65-F5344CB8AC3E}">
        <p14:creationId xmlns:p14="http://schemas.microsoft.com/office/powerpoint/2010/main" val="27525960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D039D4-C621-15B3-82A8-C4C4C9027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39B8A9FC-0A45-EB43-94B6-6FC689B3D0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1659" y="1449423"/>
            <a:ext cx="7772400" cy="4814177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BE72EDDE-E0CA-2AF0-CCC8-4EA0415F0873}"/>
              </a:ext>
            </a:extLst>
          </p:cNvPr>
          <p:cNvSpPr txBox="1"/>
          <p:nvPr/>
        </p:nvSpPr>
        <p:spPr>
          <a:xfrm>
            <a:off x="1294411" y="594400"/>
            <a:ext cx="65566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/>
              <a:t>CLAP</a:t>
            </a:r>
            <a:r>
              <a:rPr kumimoji="1" lang="zh-CN" altLang="en-US"/>
              <a:t> </a:t>
            </a:r>
            <a:r>
              <a:rPr kumimoji="1" lang="en-US" altLang="zh-CN"/>
              <a:t>v2</a:t>
            </a:r>
            <a:r>
              <a:rPr kumimoji="1" lang="zh-CN" altLang="en-US"/>
              <a:t> 的</a:t>
            </a:r>
            <a:r>
              <a:rPr kumimoji="1" lang="en-US" altLang="zh-CN"/>
              <a:t> HTSAT22</a:t>
            </a:r>
            <a:r>
              <a:rPr kumimoji="1" lang="zh-CN" altLang="en-US"/>
              <a:t> 的</a:t>
            </a:r>
            <a:r>
              <a:rPr kumimoji="1" lang="en-US" altLang="zh-CN"/>
              <a:t> audio</a:t>
            </a:r>
            <a:r>
              <a:rPr kumimoji="1" lang="zh-CN" altLang="en-US"/>
              <a:t> </a:t>
            </a:r>
            <a:r>
              <a:rPr kumimoji="1" lang="en-US" altLang="zh-CN"/>
              <a:t>encoder</a:t>
            </a:r>
            <a:r>
              <a:rPr kumimoji="1" lang="zh-CN" altLang="en-US"/>
              <a:t> 来自于这篇 </a:t>
            </a:r>
            <a:r>
              <a:rPr kumimoji="1" lang="en-US" altLang="zh-CN"/>
              <a:t>pengi</a:t>
            </a:r>
            <a:r>
              <a:rPr kumimoji="1" lang="zh-CN" altLang="en-US"/>
              <a:t> 文章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565BECD-40DB-5E8D-501F-DB7421FE5BBE}"/>
              </a:ext>
            </a:extLst>
          </p:cNvPr>
          <p:cNvSpPr txBox="1"/>
          <p:nvPr/>
        </p:nvSpPr>
        <p:spPr>
          <a:xfrm>
            <a:off x="899557" y="4648556"/>
            <a:ext cx="11905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/>
              <a:t>HTSAT22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35250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019B71-2D51-058B-2555-8AE65526B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6AE253F7-4F67-0294-E5D6-92AD05D4E5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2748479"/>
              </p:ext>
            </p:extLst>
          </p:nvPr>
        </p:nvGraphicFramePr>
        <p:xfrm>
          <a:off x="1900051" y="736279"/>
          <a:ext cx="7790213" cy="5563614"/>
        </p:xfrm>
        <a:graphic>
          <a:graphicData uri="http://schemas.openxmlformats.org/drawingml/2006/table">
            <a:tbl>
              <a:tblPr/>
              <a:tblGrid>
                <a:gridCol w="2804477">
                  <a:extLst>
                    <a:ext uri="{9D8B030D-6E8A-4147-A177-3AD203B41FA5}">
                      <a16:colId xmlns:a16="http://schemas.microsoft.com/office/drawing/2014/main" val="1664554900"/>
                    </a:ext>
                  </a:extLst>
                </a:gridCol>
                <a:gridCol w="2492868">
                  <a:extLst>
                    <a:ext uri="{9D8B030D-6E8A-4147-A177-3AD203B41FA5}">
                      <a16:colId xmlns:a16="http://schemas.microsoft.com/office/drawing/2014/main" val="1996453779"/>
                    </a:ext>
                  </a:extLst>
                </a:gridCol>
                <a:gridCol w="2492868">
                  <a:extLst>
                    <a:ext uri="{9D8B030D-6E8A-4147-A177-3AD203B41FA5}">
                      <a16:colId xmlns:a16="http://schemas.microsoft.com/office/drawing/2014/main" val="2570595277"/>
                    </a:ext>
                  </a:extLst>
                </a:gridCol>
              </a:tblGrid>
              <a:tr h="548754"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 sz="1000">
                          <a:effectLst/>
                        </a:rPr>
                        <a:t>维度</a:t>
                      </a:r>
                    </a:p>
                    <a:p>
                      <a:pPr fontAlgn="t"/>
                      <a:br>
                        <a:rPr lang="zh-CN" altLang="en-US" sz="1000">
                          <a:effectLst/>
                        </a:rPr>
                      </a:br>
                      <a:endParaRPr lang="zh-CN" altLang="en-US" sz="1000">
                        <a:effectLst/>
                      </a:endParaRPr>
                    </a:p>
                  </a:txBody>
                  <a:tcPr marL="53803" marR="53803" marT="53803" marB="53803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>
                          <a:effectLst/>
                        </a:rPr>
                        <a:t>Microsoft CLAP（v2</a:t>
                      </a:r>
                      <a:r>
                        <a:rPr lang="zh-CN" altLang="en-US" sz="1000">
                          <a:effectLst/>
                        </a:rPr>
                        <a:t>）</a:t>
                      </a:r>
                    </a:p>
                  </a:txBody>
                  <a:tcPr marL="53803" marR="53803" marT="53803" marB="53803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>
                          <a:effectLst/>
                        </a:rPr>
                        <a:t>LAION-CLAP</a:t>
                      </a:r>
                    </a:p>
                  </a:txBody>
                  <a:tcPr marL="53803" marR="53803" marT="53803" marB="53803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4987629"/>
                  </a:ext>
                </a:extLst>
              </a:tr>
              <a:tr h="685943"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 sz="1000">
                          <a:effectLst/>
                        </a:rPr>
                        <a:t>训练对规模</a:t>
                      </a:r>
                    </a:p>
                    <a:p>
                      <a:pPr fontAlgn="t"/>
                      <a:br>
                        <a:rPr lang="zh-CN" altLang="en-US" sz="1000">
                          <a:effectLst/>
                        </a:rPr>
                      </a:br>
                      <a:endParaRPr lang="zh-CN" altLang="en-US" sz="1000">
                        <a:effectLst/>
                      </a:endParaRPr>
                    </a:p>
                  </a:txBody>
                  <a:tcPr marL="53803" marR="53803" marT="53803" marB="53803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 sz="1000">
                          <a:effectLst/>
                        </a:rPr>
                        <a:t>约 </a:t>
                      </a:r>
                      <a:r>
                        <a:rPr lang="en-US" altLang="zh-CN" sz="1000">
                          <a:effectLst/>
                        </a:rPr>
                        <a:t>4.6</a:t>
                      </a:r>
                      <a:r>
                        <a:rPr lang="en-US" sz="1000">
                          <a:effectLst/>
                        </a:rPr>
                        <a:t>M </a:t>
                      </a:r>
                      <a:r>
                        <a:rPr lang="zh-CN" altLang="en-US" sz="1000">
                          <a:effectLst/>
                        </a:rPr>
                        <a:t>对</a:t>
                      </a:r>
                    </a:p>
                    <a:p>
                      <a:pPr fontAlgn="t"/>
                      <a:br>
                        <a:rPr lang="zh-CN" altLang="en-US" sz="1000">
                          <a:effectLst/>
                        </a:rPr>
                      </a:br>
                      <a:endParaRPr lang="zh-CN" altLang="en-US" sz="1000">
                        <a:effectLst/>
                      </a:endParaRPr>
                    </a:p>
                  </a:txBody>
                  <a:tcPr marL="53803" marR="53803" marT="53803" marB="53803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 sz="1000">
                          <a:effectLst/>
                        </a:rPr>
                        <a:t>约 </a:t>
                      </a:r>
                      <a:r>
                        <a:rPr lang="en-US" altLang="zh-CN" sz="1000">
                          <a:effectLst/>
                        </a:rPr>
                        <a:t>633,526 </a:t>
                      </a:r>
                      <a:r>
                        <a:rPr lang="zh-CN" altLang="en-US" sz="1000">
                          <a:effectLst/>
                        </a:rPr>
                        <a:t>对（</a:t>
                      </a:r>
                      <a:r>
                        <a:rPr lang="en-US" sz="1000">
                          <a:effectLst/>
                        </a:rPr>
                        <a:t>LAION-Audio-630K），</a:t>
                      </a:r>
                      <a:r>
                        <a:rPr lang="zh-CN" altLang="en-US" sz="1000">
                          <a:effectLst/>
                        </a:rPr>
                        <a:t>并结合 </a:t>
                      </a:r>
                      <a:r>
                        <a:rPr lang="en-US" sz="1000">
                          <a:effectLst/>
                        </a:rPr>
                        <a:t>AudioSet </a:t>
                      </a:r>
                      <a:r>
                        <a:rPr lang="zh-CN" altLang="en-US" sz="1000">
                          <a:effectLst/>
                        </a:rPr>
                        <a:t>派生字幕</a:t>
                      </a:r>
                      <a:r>
                        <a:rPr lang="en-US" altLang="zh-CN" sz="1000">
                          <a:effectLst/>
                        </a:rPr>
                        <a:t>/</a:t>
                      </a:r>
                      <a:r>
                        <a:rPr lang="zh-CN" altLang="en-US" sz="1000">
                          <a:effectLst/>
                        </a:rPr>
                        <a:t>标签扩展</a:t>
                      </a:r>
                    </a:p>
                  </a:txBody>
                  <a:tcPr marL="53803" marR="53803" marT="53803" marB="53803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2703581"/>
                  </a:ext>
                </a:extLst>
              </a:tr>
              <a:tr h="1646263"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 sz="1000">
                          <a:effectLst/>
                        </a:rPr>
                        <a:t>数据集来源（完整列出）</a:t>
                      </a:r>
                    </a:p>
                    <a:p>
                      <a:pPr fontAlgn="t"/>
                      <a:br>
                        <a:rPr lang="zh-CN" altLang="en-US" sz="1000">
                          <a:effectLst/>
                        </a:rPr>
                      </a:br>
                      <a:endParaRPr lang="zh-CN" altLang="en-US" sz="1000">
                        <a:effectLst/>
                      </a:endParaRPr>
                    </a:p>
                  </a:txBody>
                  <a:tcPr marL="53803" marR="53803" marT="53803" marB="53803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>
                          <a:effectLst/>
                        </a:rPr>
                        <a:t>WavCaps；AudioSet；FSD50K；Clotho；AudioCaps；MACS；WavText5k；SoundDesc；NSynth；FMA；MOSI；MELD；IEMOCAP；MOSEI；MSP-Podcast；CochlScene；LJspeech；EPIC-KITCHENS；Kinetics-700；findsounds.com</a:t>
                      </a:r>
                    </a:p>
                  </a:txBody>
                  <a:tcPr marL="53803" marR="53803" marT="53803" marB="53803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>
                          <a:effectLst/>
                        </a:rPr>
                        <a:t>LAION-Audio-630K（</a:t>
                      </a:r>
                      <a:r>
                        <a:rPr lang="zh-CN" altLang="en-US" sz="1000">
                          <a:effectLst/>
                        </a:rPr>
                        <a:t>聚合自 </a:t>
                      </a:r>
                      <a:r>
                        <a:rPr lang="en-US" sz="1000">
                          <a:effectLst/>
                        </a:rPr>
                        <a:t>FreeSound、BBC Sound Effects、SoundBible </a:t>
                      </a:r>
                      <a:r>
                        <a:rPr lang="zh-CN" altLang="en-US" sz="1000">
                          <a:effectLst/>
                        </a:rPr>
                        <a:t>等）；</a:t>
                      </a:r>
                      <a:r>
                        <a:rPr lang="en-US" sz="1000">
                          <a:effectLst/>
                        </a:rPr>
                        <a:t>AudioSet（</a:t>
                      </a:r>
                      <a:r>
                        <a:rPr lang="zh-CN" altLang="en-US" sz="1000">
                          <a:effectLst/>
                        </a:rPr>
                        <a:t>通过关键词转字幕增强）</a:t>
                      </a:r>
                    </a:p>
                  </a:txBody>
                  <a:tcPr marL="53803" marR="53803" marT="53803" marB="53803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7546425"/>
                  </a:ext>
                </a:extLst>
              </a:tr>
              <a:tr h="685943"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 sz="1000">
                          <a:effectLst/>
                        </a:rPr>
                        <a:t>音频编码器</a:t>
                      </a:r>
                    </a:p>
                  </a:txBody>
                  <a:tcPr marL="53803" marR="53803" marT="53803" marB="53803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>
                          <a:effectLst/>
                        </a:rPr>
                        <a:t>HTSAT-22（</a:t>
                      </a:r>
                      <a:r>
                        <a:rPr lang="zh-CN" altLang="en-US" sz="1000">
                          <a:effectLst/>
                        </a:rPr>
                        <a:t>音频 </a:t>
                      </a:r>
                      <a:r>
                        <a:rPr lang="en-US" sz="1000">
                          <a:effectLst/>
                        </a:rPr>
                        <a:t>Transformer，</a:t>
                      </a:r>
                      <a:r>
                        <a:rPr lang="zh-CN" altLang="en-US" sz="1000">
                          <a:effectLst/>
                        </a:rPr>
                        <a:t>经 </a:t>
                      </a:r>
                      <a:r>
                        <a:rPr lang="en-US" altLang="zh-CN" sz="1000">
                          <a:effectLst/>
                        </a:rPr>
                        <a:t>22 </a:t>
                      </a:r>
                      <a:r>
                        <a:rPr lang="zh-CN" altLang="en-US" sz="1000">
                          <a:effectLst/>
                        </a:rPr>
                        <a:t>个音频任务的“字幕式多任务”预训练）</a:t>
                      </a:r>
                    </a:p>
                  </a:txBody>
                  <a:tcPr marL="53803" marR="53803" marT="53803" marB="53803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>
                          <a:effectLst/>
                        </a:rPr>
                        <a:t>HTSAT；CNN14/CNN10/CNN6；ResNet18/ResNet38（</a:t>
                      </a:r>
                      <a:r>
                        <a:rPr lang="zh-CN" altLang="en-US" sz="1000">
                          <a:effectLst/>
                        </a:rPr>
                        <a:t>均有评测）</a:t>
                      </a:r>
                    </a:p>
                  </a:txBody>
                  <a:tcPr marL="53803" marR="53803" marT="53803" marB="53803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4419449"/>
                  </a:ext>
                </a:extLst>
              </a:tr>
              <a:tr h="334397"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 sz="1000">
                          <a:effectLst/>
                        </a:rPr>
                        <a:t>文本编码器</a:t>
                      </a:r>
                    </a:p>
                  </a:txBody>
                  <a:tcPr marL="53803" marR="53803" marT="53803" marB="53803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>
                          <a:effectLst/>
                        </a:rPr>
                        <a:t>GPT-2</a:t>
                      </a:r>
                    </a:p>
                  </a:txBody>
                  <a:tcPr marL="53803" marR="53803" marT="53803" marB="53803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>
                          <a:effectLst/>
                        </a:rPr>
                        <a:t>CLIP</a:t>
                      </a:r>
                      <a:r>
                        <a:rPr lang="zh-CN" altLang="en-US" sz="1000">
                          <a:effectLst/>
                        </a:rPr>
                        <a:t> </a:t>
                      </a:r>
                      <a:r>
                        <a:rPr lang="en-US" altLang="zh-CN" sz="1000">
                          <a:effectLst/>
                        </a:rPr>
                        <a:t>text</a:t>
                      </a:r>
                      <a:r>
                        <a:rPr lang="zh-CN" altLang="en-US" sz="1000">
                          <a:effectLst/>
                        </a:rPr>
                        <a:t> </a:t>
                      </a:r>
                      <a:r>
                        <a:rPr lang="en-US" altLang="zh-CN" sz="1000">
                          <a:effectLst/>
                        </a:rPr>
                        <a:t>encoder</a:t>
                      </a:r>
                      <a:r>
                        <a:rPr lang="en-US" sz="1000">
                          <a:effectLst/>
                        </a:rPr>
                        <a:t>, BERT, RoBERTa</a:t>
                      </a:r>
                    </a:p>
                  </a:txBody>
                  <a:tcPr marL="53803" marR="53803" marT="53803" marB="53803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6056192"/>
                  </a:ext>
                </a:extLst>
              </a:tr>
              <a:tr h="823131"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 sz="1000">
                          <a:effectLst/>
                        </a:rPr>
                        <a:t>变长音频处理 </a:t>
                      </a:r>
                      <a:r>
                        <a:rPr lang="en-US" altLang="zh-CN" sz="1000">
                          <a:effectLst/>
                        </a:rPr>
                        <a:t>/ </a:t>
                      </a:r>
                      <a:r>
                        <a:rPr lang="zh-CN" altLang="en-US" sz="1000">
                          <a:effectLst/>
                        </a:rPr>
                        <a:t>特征融合</a:t>
                      </a:r>
                    </a:p>
                  </a:txBody>
                  <a:tcPr marL="53803" marR="53803" marT="53803" marB="53803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 sz="1000">
                          <a:effectLst/>
                        </a:rPr>
                        <a:t>标准截断</a:t>
                      </a:r>
                      <a:r>
                        <a:rPr lang="en-US" altLang="zh-CN" sz="1000">
                          <a:effectLst/>
                        </a:rPr>
                        <a:t>/</a:t>
                      </a:r>
                      <a:r>
                        <a:rPr lang="zh-CN" altLang="en-US" sz="1000">
                          <a:effectLst/>
                        </a:rPr>
                        <a:t>裁剪（约 </a:t>
                      </a:r>
                      <a:r>
                        <a:rPr lang="en-US" altLang="zh-CN" sz="1000">
                          <a:effectLst/>
                        </a:rPr>
                        <a:t>7 </a:t>
                      </a:r>
                      <a:r>
                        <a:rPr lang="zh-CN" altLang="en-US" sz="1000">
                          <a:effectLst/>
                        </a:rPr>
                        <a:t>秒片段）；通过多任务预训练提升鲁棒性（未引入显式融合）</a:t>
                      </a:r>
                    </a:p>
                  </a:txBody>
                  <a:tcPr marL="53803" marR="53803" marT="53803" marB="53803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 sz="1000">
                          <a:effectLst/>
                        </a:rPr>
                        <a:t>注意力特征融合（</a:t>
                      </a:r>
                      <a:r>
                        <a:rPr lang="en-US" sz="1000">
                          <a:effectLst/>
                        </a:rPr>
                        <a:t>AFF）：</a:t>
                      </a:r>
                      <a:r>
                        <a:rPr lang="zh-CN" altLang="en-US" sz="1000">
                          <a:effectLst/>
                        </a:rPr>
                        <a:t>融合全局下采样上下文与多局部切片；长</a:t>
                      </a:r>
                      <a:r>
                        <a:rPr lang="en-US" altLang="zh-CN" sz="1000">
                          <a:effectLst/>
                        </a:rPr>
                        <a:t>/</a:t>
                      </a:r>
                      <a:r>
                        <a:rPr lang="zh-CN" altLang="en-US" sz="1000">
                          <a:effectLst/>
                        </a:rPr>
                        <a:t>变长音频高效常数时处理；提升长音频检索与分类</a:t>
                      </a:r>
                    </a:p>
                  </a:txBody>
                  <a:tcPr marL="53803" marR="53803" marT="53803" marB="53803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0102781"/>
                  </a:ext>
                </a:extLst>
              </a:tr>
              <a:tr h="823131"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 sz="1000">
                          <a:effectLst/>
                        </a:rPr>
                        <a:t>数据增强 </a:t>
                      </a:r>
                      <a:r>
                        <a:rPr lang="en-US" altLang="zh-CN" sz="1000">
                          <a:effectLst/>
                        </a:rPr>
                        <a:t>/ </a:t>
                      </a:r>
                      <a:r>
                        <a:rPr lang="zh-CN" altLang="en-US" sz="1000">
                          <a:effectLst/>
                        </a:rPr>
                        <a:t>语义充实</a:t>
                      </a:r>
                    </a:p>
                  </a:txBody>
                  <a:tcPr marL="53803" marR="53803" marT="53803" marB="53803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 sz="1000">
                          <a:effectLst/>
                        </a:rPr>
                        <a:t>多任务“字幕式”训练（映射网络提示 </a:t>
                      </a:r>
                      <a:r>
                        <a:rPr lang="en-US" sz="1000">
                          <a:effectLst/>
                        </a:rPr>
                        <a:t>LLM）</a:t>
                      </a:r>
                      <a:r>
                        <a:rPr lang="zh-CN" altLang="en-US" sz="1000">
                          <a:effectLst/>
                        </a:rPr>
                        <a:t>覆盖 </a:t>
                      </a:r>
                      <a:r>
                        <a:rPr lang="en-US" altLang="zh-CN" sz="1000">
                          <a:effectLst/>
                        </a:rPr>
                        <a:t>22 </a:t>
                      </a:r>
                      <a:r>
                        <a:rPr lang="zh-CN" altLang="en-US" sz="1000">
                          <a:effectLst/>
                        </a:rPr>
                        <a:t>任务；标准音频预处理</a:t>
                      </a:r>
                    </a:p>
                  </a:txBody>
                  <a:tcPr marL="53803" marR="53803" marT="53803" marB="53803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>
                          <a:effectLst/>
                        </a:rPr>
                        <a:t>SpecAugment；</a:t>
                      </a:r>
                      <a:r>
                        <a:rPr lang="zh-CN" altLang="en-US" sz="1000">
                          <a:effectLst/>
                        </a:rPr>
                        <a:t>时间</a:t>
                      </a:r>
                      <a:r>
                        <a:rPr lang="en-US" altLang="zh-CN" sz="1000">
                          <a:effectLst/>
                        </a:rPr>
                        <a:t>/</a:t>
                      </a:r>
                      <a:r>
                        <a:rPr lang="zh-CN" altLang="en-US" sz="1000">
                          <a:effectLst/>
                        </a:rPr>
                        <a:t>频率掩蔽；</a:t>
                      </a:r>
                      <a:r>
                        <a:rPr lang="en-US" sz="1000">
                          <a:effectLst/>
                        </a:rPr>
                        <a:t>Mixup；</a:t>
                      </a:r>
                      <a:r>
                        <a:rPr lang="zh-CN" altLang="en-US" sz="1000">
                          <a:effectLst/>
                        </a:rPr>
                        <a:t>关键词到描述增强（用 </a:t>
                      </a:r>
                      <a:r>
                        <a:rPr lang="en-US" sz="1000">
                          <a:effectLst/>
                        </a:rPr>
                        <a:t>T5 </a:t>
                      </a:r>
                      <a:r>
                        <a:rPr lang="zh-CN" altLang="en-US" sz="1000">
                          <a:effectLst/>
                        </a:rPr>
                        <a:t>从标签</a:t>
                      </a:r>
                      <a:r>
                        <a:rPr lang="en-US" altLang="zh-CN" sz="1000">
                          <a:effectLst/>
                        </a:rPr>
                        <a:t>/</a:t>
                      </a:r>
                      <a:r>
                        <a:rPr lang="zh-CN" altLang="en-US" sz="1000">
                          <a:effectLst/>
                        </a:rPr>
                        <a:t>关键词生成描述并去偏）</a:t>
                      </a:r>
                    </a:p>
                  </a:txBody>
                  <a:tcPr marL="53803" marR="53803" marT="53803" marB="53803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0523037"/>
                  </a:ext>
                </a:extLst>
              </a:tr>
            </a:tbl>
          </a:graphicData>
        </a:graphic>
      </p:graphicFrame>
      <p:sp>
        <p:nvSpPr>
          <p:cNvPr id="4" name="Rectangle 1">
            <a:extLst>
              <a:ext uri="{FF2B5EF4-FFF2-40B4-BE49-F238E27FC236}">
                <a16:creationId xmlns:a16="http://schemas.microsoft.com/office/drawing/2014/main" id="{7C84B69A-82C9-D7D6-CBAF-EE90D27D7E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4838" y="18256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1A57637-D6C0-08B7-56C0-1239816C31F8}"/>
              </a:ext>
            </a:extLst>
          </p:cNvPr>
          <p:cNvSpPr txBox="1"/>
          <p:nvPr/>
        </p:nvSpPr>
        <p:spPr>
          <a:xfrm>
            <a:off x="2526476" y="135968"/>
            <a:ext cx="83067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/>
            <a:r>
              <a:rPr lang="zh-CN" altLang="en-US"/>
              <a:t>微软的</a:t>
            </a:r>
            <a:r>
              <a:rPr lang="en-US" altLang="zh-CN"/>
              <a:t> CLAP v2</a:t>
            </a:r>
            <a:r>
              <a:rPr lang="zh-CN" altLang="en-US"/>
              <a:t> 和 </a:t>
            </a:r>
            <a:r>
              <a:rPr lang="en-US" altLang="zh-CN" sz="1800">
                <a:effectLst/>
              </a:rPr>
              <a:t>LAION-CLAP </a:t>
            </a:r>
            <a:r>
              <a:rPr lang="zh-CN" altLang="en-US" sz="1800">
                <a:effectLst/>
              </a:rPr>
              <a:t>的区别</a:t>
            </a:r>
            <a:endParaRPr lang="en-US" altLang="zh-CN" sz="180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4774018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1BAF68-27A1-3B4C-8FE4-86C0F3624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AC5DC4F7-EA3C-6AA8-3EB4-4BA2F88B34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1391" y="0"/>
            <a:ext cx="4932947" cy="6858000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CFB3398D-008E-CA64-3D54-B4E76D71E421}"/>
              </a:ext>
            </a:extLst>
          </p:cNvPr>
          <p:cNvSpPr txBox="1"/>
          <p:nvPr/>
        </p:nvSpPr>
        <p:spPr>
          <a:xfrm>
            <a:off x="2047597" y="415637"/>
            <a:ext cx="1213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/>
              <a:t>laionCLAP</a:t>
            </a:r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257412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B0C75C-F535-586C-E598-5E8BD01928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3AB216A4-3BC1-29E0-0F0F-C6BC52B6F584}"/>
              </a:ext>
            </a:extLst>
          </p:cNvPr>
          <p:cNvSpPr txBox="1"/>
          <p:nvPr/>
        </p:nvSpPr>
        <p:spPr>
          <a:xfrm>
            <a:off x="696686" y="925746"/>
            <a:ext cx="868482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CN" altLang="en-US"/>
          </a:p>
          <a:p>
            <a:r>
              <a:rPr lang="en-US" altLang="zh-CN"/>
              <a:t>Laion</a:t>
            </a:r>
            <a:r>
              <a:rPr lang="zh-CN" altLang="en-US"/>
              <a:t> </a:t>
            </a:r>
            <a:r>
              <a:rPr lang="en-US" altLang="zh-CN"/>
              <a:t>CLAP</a:t>
            </a:r>
            <a:r>
              <a:rPr lang="zh-CN" altLang="en-US"/>
              <a:t> 如何通过特征融合处理可变长度音频</a:t>
            </a:r>
          </a:p>
          <a:p>
            <a:endParaRPr lang="zh-CN" altLang="en-US"/>
          </a:p>
          <a:p>
            <a:r>
              <a:rPr lang="zh-CN" altLang="en-US"/>
              <a:t>问题</a:t>
            </a:r>
          </a:p>
          <a:p>
            <a:pPr marL="285750" indent="-285750">
              <a:buFontTx/>
              <a:buChar char="-"/>
            </a:pPr>
            <a:r>
              <a:rPr lang="zh-CN" altLang="en-US"/>
              <a:t>音频时长不一；</a:t>
            </a:r>
            <a:endParaRPr lang="en-US" altLang="zh-CN"/>
          </a:p>
          <a:p>
            <a:endParaRPr lang="zh-CN" altLang="en-US"/>
          </a:p>
          <a:p>
            <a:r>
              <a:rPr lang="zh-CN" altLang="en-US"/>
              <a:t>方法（固定片段 d = 10 秒）</a:t>
            </a:r>
          </a:p>
          <a:p>
            <a:r>
              <a:rPr lang="zh-CN" altLang="en-US"/>
              <a:t>- 短音频（T ≤ d）：重复音频，再零填充到 d。</a:t>
            </a:r>
          </a:p>
          <a:p>
            <a:r>
              <a:rPr lang="zh-CN" altLang="en-US"/>
              <a:t>- 长音频（T &gt; d）：</a:t>
            </a:r>
          </a:p>
          <a:p>
            <a:r>
              <a:rPr lang="zh-CN" altLang="en-US"/>
              <a:t>  - 全局：将整段音频下采样到 d（粗粒度上下文）。</a:t>
            </a:r>
          </a:p>
          <a:p>
            <a:r>
              <a:rPr lang="zh-CN" altLang="en-US"/>
              <a:t>  - 局部：从前/中/后三段各采样 1 个 d 秒片段（共 3 个）。</a:t>
            </a:r>
          </a:p>
          <a:p>
            <a:r>
              <a:rPr lang="zh-CN" altLang="en-US"/>
              <a:t>  - 编码：1 个全局 + 3 个局部同时送入第一层编码器。</a:t>
            </a:r>
          </a:p>
          <a:p>
            <a:r>
              <a:rPr lang="zh-CN" altLang="en-US"/>
              <a:t>  - 合并局部：用 2D 卷积（时间维 stride=3）→ 得到单一局部特征。</a:t>
            </a:r>
          </a:p>
          <a:p>
            <a:r>
              <a:rPr lang="zh-CN" altLang="en-US"/>
              <a:t>  - 融合：X_fusion = α·X_global + (1−α)·X_local，α 由 AFF（注意力特征融合）产生。</a:t>
            </a:r>
          </a:p>
        </p:txBody>
      </p:sp>
    </p:spTree>
    <p:extLst>
      <p:ext uri="{BB962C8B-B14F-4D97-AF65-F5344CB8AC3E}">
        <p14:creationId xmlns:p14="http://schemas.microsoft.com/office/powerpoint/2010/main" val="23745302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6A52B3-EA51-1BDE-F20B-15FDD8A48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42BADBB8-D1F5-0B5D-F80C-29F1B2E259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666" y="973662"/>
            <a:ext cx="6728361" cy="5081683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896C5005-E20A-C134-50AD-97EF2D50ED3F}"/>
              </a:ext>
            </a:extLst>
          </p:cNvPr>
          <p:cNvSpPr txBox="1"/>
          <p:nvPr/>
        </p:nvSpPr>
        <p:spPr>
          <a:xfrm>
            <a:off x="469572" y="156324"/>
            <a:ext cx="912321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/>
              <a:t>m2dCLAP:</a:t>
            </a:r>
            <a:r>
              <a:rPr lang="zh-CN" altLang="en-US"/>
              <a:t> </a:t>
            </a:r>
            <a:r>
              <a:rPr lang="en-US" altLang="zh-CN"/>
              <a:t>Exploring General-purpose Audio-Language Representations Beyond CLAP 2025.9.15</a:t>
            </a:r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5C76AD8-C99A-B2B2-F5F7-DE6D2538E155}"/>
              </a:ext>
            </a:extLst>
          </p:cNvPr>
          <p:cNvSpPr txBox="1"/>
          <p:nvPr/>
        </p:nvSpPr>
        <p:spPr>
          <a:xfrm>
            <a:off x="7287493" y="1640464"/>
            <a:ext cx="4610593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/>
              <a:t>想解决的问题</a:t>
            </a:r>
          </a:p>
          <a:p>
            <a:r>
              <a:rPr lang="zh-CN" altLang="en-US"/>
              <a:t>- CLAP：音频-文本对齐强，但音频特征对通用任务泛化弱</a:t>
            </a:r>
          </a:p>
          <a:p>
            <a:r>
              <a:rPr lang="zh-CN" altLang="en-US"/>
              <a:t>- SSL：通用音频特征强，但不对齐文本</a:t>
            </a:r>
          </a:p>
          <a:p>
            <a:r>
              <a:rPr lang="zh-CN" altLang="en-US"/>
              <a:t>- 缺口：需要一个同时胜任传统音频任务和音频-语言任务的单一模型</a:t>
            </a:r>
            <a:br>
              <a:rPr lang="en-US" altLang="zh-CN"/>
            </a:br>
            <a:br>
              <a:rPr lang="en-US" altLang="zh-CN"/>
            </a:br>
            <a:r>
              <a:rPr lang="zh-CN" altLang="en-US"/>
              <a:t>解决方案：多阶段 </a:t>
            </a:r>
            <a:r>
              <a:rPr lang="en-US" altLang="zh-CN"/>
              <a:t>SSL + CLAP</a:t>
            </a:r>
            <a:br>
              <a:rPr lang="en-US" altLang="zh-CN"/>
            </a:br>
            <a:br>
              <a:rPr lang="en-US" altLang="zh-CN"/>
            </a:b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19686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49865C-42FC-00CA-42AB-5E62F6F8B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37C40A2F-AA7A-C0AC-6B93-01D660792E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4122910"/>
              </p:ext>
            </p:extLst>
          </p:nvPr>
        </p:nvGraphicFramePr>
        <p:xfrm>
          <a:off x="2992582" y="641268"/>
          <a:ext cx="4097910" cy="513304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819582">
                  <a:extLst>
                    <a:ext uri="{9D8B030D-6E8A-4147-A177-3AD203B41FA5}">
                      <a16:colId xmlns:a16="http://schemas.microsoft.com/office/drawing/2014/main" val="1000747993"/>
                    </a:ext>
                  </a:extLst>
                </a:gridCol>
                <a:gridCol w="819582">
                  <a:extLst>
                    <a:ext uri="{9D8B030D-6E8A-4147-A177-3AD203B41FA5}">
                      <a16:colId xmlns:a16="http://schemas.microsoft.com/office/drawing/2014/main" val="2731687915"/>
                    </a:ext>
                  </a:extLst>
                </a:gridCol>
                <a:gridCol w="819582">
                  <a:extLst>
                    <a:ext uri="{9D8B030D-6E8A-4147-A177-3AD203B41FA5}">
                      <a16:colId xmlns:a16="http://schemas.microsoft.com/office/drawing/2014/main" val="4198119651"/>
                    </a:ext>
                  </a:extLst>
                </a:gridCol>
                <a:gridCol w="819582">
                  <a:extLst>
                    <a:ext uri="{9D8B030D-6E8A-4147-A177-3AD203B41FA5}">
                      <a16:colId xmlns:a16="http://schemas.microsoft.com/office/drawing/2014/main" val="642537288"/>
                    </a:ext>
                  </a:extLst>
                </a:gridCol>
                <a:gridCol w="819582">
                  <a:extLst>
                    <a:ext uri="{9D8B030D-6E8A-4147-A177-3AD203B41FA5}">
                      <a16:colId xmlns:a16="http://schemas.microsoft.com/office/drawing/2014/main" val="1059780064"/>
                    </a:ext>
                  </a:extLst>
                </a:gridCol>
              </a:tblGrid>
              <a:tr h="293496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000" b="1">
                          <a:effectLst/>
                        </a:rPr>
                        <a:t>任务类别</a:t>
                      </a:r>
                    </a:p>
                  </a:txBody>
                  <a:tcPr marL="36566" marR="36566" marT="18283" marB="1828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000" b="1">
                          <a:effectLst/>
                        </a:rPr>
                        <a:t>数据集</a:t>
                      </a:r>
                      <a:r>
                        <a:rPr lang="en-US" altLang="zh-CN" sz="1000" b="1">
                          <a:effectLst/>
                        </a:rPr>
                        <a:t>/</a:t>
                      </a:r>
                      <a:r>
                        <a:rPr lang="zh-CN" altLang="en-US" sz="1000" b="1">
                          <a:effectLst/>
                        </a:rPr>
                        <a:t>指标</a:t>
                      </a:r>
                    </a:p>
                  </a:txBody>
                  <a:tcPr marL="36566" marR="36566" marT="18283" marB="1828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1">
                          <a:effectLst/>
                        </a:rPr>
                        <a:t>M2D-CLAP</a:t>
                      </a:r>
                    </a:p>
                  </a:txBody>
                  <a:tcPr marL="36566" marR="36566" marT="18283" marB="1828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1">
                          <a:effectLst/>
                        </a:rPr>
                        <a:t>LAION-CLAP</a:t>
                      </a:r>
                    </a:p>
                  </a:txBody>
                  <a:tcPr marL="36566" marR="36566" marT="18283" marB="1828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000" b="1">
                          <a:effectLst/>
                        </a:rPr>
                        <a:t>胜者</a:t>
                      </a:r>
                    </a:p>
                  </a:txBody>
                  <a:tcPr marL="36566" marR="36566" marT="18283" marB="18283" anchor="ctr"/>
                </a:tc>
                <a:extLst>
                  <a:ext uri="{0D108BD9-81ED-4DB2-BD59-A6C34878D82A}">
                    <a16:rowId xmlns:a16="http://schemas.microsoft.com/office/drawing/2014/main" val="2337084112"/>
                  </a:ext>
                </a:extLst>
              </a:tr>
              <a:tr h="545064"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effectLst/>
                        </a:rPr>
                        <a:t>文本</a:t>
                      </a:r>
                      <a:r>
                        <a:rPr lang="en-US" altLang="zh-CN" sz="1000" b="1">
                          <a:effectLst/>
                        </a:rPr>
                        <a:t>-</a:t>
                      </a:r>
                      <a:r>
                        <a:rPr lang="zh-CN" altLang="en-US" sz="1000" b="1">
                          <a:effectLst/>
                        </a:rPr>
                        <a:t>音频检索</a:t>
                      </a:r>
                      <a:r>
                        <a:rPr lang="zh-CN" altLang="en-US" sz="1000" b="0">
                          <a:effectLst/>
                        </a:rPr>
                        <a:t> </a:t>
                      </a:r>
                      <a:r>
                        <a:rPr lang="en-US" altLang="zh-CN" sz="1000" b="0">
                          <a:effectLst/>
                        </a:rPr>
                        <a:t>(</a:t>
                      </a:r>
                      <a:r>
                        <a:rPr lang="en-US" sz="1000" b="0">
                          <a:effectLst/>
                        </a:rPr>
                        <a:t>R@1)</a:t>
                      </a:r>
                    </a:p>
                  </a:txBody>
                  <a:tcPr marL="36566" marR="36566" marT="18283" marB="18283" anchor="ctr"/>
                </a:tc>
                <a:tc>
                  <a:txBody>
                    <a:bodyPr/>
                    <a:lstStyle/>
                    <a:p>
                      <a:r>
                        <a:rPr lang="en-US" sz="1000" b="0">
                          <a:effectLst/>
                        </a:rPr>
                        <a:t>AudioCaps T→A</a:t>
                      </a:r>
                    </a:p>
                  </a:txBody>
                  <a:tcPr marL="36566" marR="36566" marT="18283" marB="18283" anchor="ctr"/>
                </a:tc>
                <a:tc>
                  <a:txBody>
                    <a:bodyPr/>
                    <a:lstStyle/>
                    <a:p>
                      <a:r>
                        <a:rPr lang="en-US" altLang="zh-CN" sz="1000" b="1">
                          <a:effectLst/>
                        </a:rPr>
                        <a:t>41.9</a:t>
                      </a:r>
                      <a:endParaRPr lang="zh-CN" altLang="en-US" sz="1000" b="0">
                        <a:effectLst/>
                      </a:endParaRPr>
                    </a:p>
                  </a:txBody>
                  <a:tcPr marL="36566" marR="36566" marT="18283" marB="18283" anchor="ctr"/>
                </a:tc>
                <a:tc>
                  <a:txBody>
                    <a:bodyPr/>
                    <a:lstStyle/>
                    <a:p>
                      <a:r>
                        <a:rPr lang="en-US" altLang="zh-CN" sz="1000" b="0">
                          <a:effectLst/>
                        </a:rPr>
                        <a:t>35.1–36.7</a:t>
                      </a:r>
                    </a:p>
                  </a:txBody>
                  <a:tcPr marL="36566" marR="36566" marT="18283" marB="18283" anchor="ctr"/>
                </a:tc>
                <a:tc>
                  <a:txBody>
                    <a:bodyPr/>
                    <a:lstStyle/>
                    <a:p>
                      <a:r>
                        <a:rPr lang="en-US" sz="1000" b="0">
                          <a:effectLst/>
                        </a:rPr>
                        <a:t>M2D-CLAP</a:t>
                      </a:r>
                    </a:p>
                  </a:txBody>
                  <a:tcPr marL="36566" marR="36566" marT="18283" marB="18283" anchor="ctr"/>
                </a:tc>
                <a:extLst>
                  <a:ext uri="{0D108BD9-81ED-4DB2-BD59-A6C34878D82A}">
                    <a16:rowId xmlns:a16="http://schemas.microsoft.com/office/drawing/2014/main" val="4149017445"/>
                  </a:ext>
                </a:extLst>
              </a:tr>
              <a:tr h="293496">
                <a:tc>
                  <a:txBody>
                    <a:bodyPr/>
                    <a:lstStyle/>
                    <a:p>
                      <a:endParaRPr lang="zh-CN" altLang="en-US" sz="1000" b="0">
                        <a:effectLst/>
                      </a:endParaRPr>
                    </a:p>
                  </a:txBody>
                  <a:tcPr marL="36566" marR="36566" marT="18283" marB="18283" anchor="ctr"/>
                </a:tc>
                <a:tc>
                  <a:txBody>
                    <a:bodyPr/>
                    <a:lstStyle/>
                    <a:p>
                      <a:r>
                        <a:rPr lang="en-US" sz="1000" b="0">
                          <a:effectLst/>
                        </a:rPr>
                        <a:t>AudioCaps A→T</a:t>
                      </a:r>
                    </a:p>
                  </a:txBody>
                  <a:tcPr marL="36566" marR="36566" marT="18283" marB="18283" anchor="ctr"/>
                </a:tc>
                <a:tc>
                  <a:txBody>
                    <a:bodyPr/>
                    <a:lstStyle/>
                    <a:p>
                      <a:r>
                        <a:rPr lang="en-US" altLang="zh-CN" sz="1000" b="1">
                          <a:effectLst/>
                        </a:rPr>
                        <a:t>45.9</a:t>
                      </a:r>
                      <a:endParaRPr lang="zh-CN" altLang="en-US" sz="1000" b="0">
                        <a:effectLst/>
                      </a:endParaRPr>
                    </a:p>
                  </a:txBody>
                  <a:tcPr marL="36566" marR="36566" marT="18283" marB="18283" anchor="ctr"/>
                </a:tc>
                <a:tc>
                  <a:txBody>
                    <a:bodyPr/>
                    <a:lstStyle/>
                    <a:p>
                      <a:r>
                        <a:rPr lang="en-US" altLang="zh-CN" sz="1000" b="0">
                          <a:effectLst/>
                        </a:rPr>
                        <a:t>~44.2</a:t>
                      </a:r>
                    </a:p>
                  </a:txBody>
                  <a:tcPr marL="36566" marR="36566" marT="18283" marB="18283" anchor="ctr"/>
                </a:tc>
                <a:tc>
                  <a:txBody>
                    <a:bodyPr/>
                    <a:lstStyle/>
                    <a:p>
                      <a:r>
                        <a:rPr lang="en-US" sz="1000" b="0">
                          <a:effectLst/>
                        </a:rPr>
                        <a:t>M2D-CLAP</a:t>
                      </a:r>
                    </a:p>
                  </a:txBody>
                  <a:tcPr marL="36566" marR="36566" marT="18283" marB="18283" anchor="ctr"/>
                </a:tc>
                <a:extLst>
                  <a:ext uri="{0D108BD9-81ED-4DB2-BD59-A6C34878D82A}">
                    <a16:rowId xmlns:a16="http://schemas.microsoft.com/office/drawing/2014/main" val="2584672082"/>
                  </a:ext>
                </a:extLst>
              </a:tr>
              <a:tr h="293496">
                <a:tc>
                  <a:txBody>
                    <a:bodyPr/>
                    <a:lstStyle/>
                    <a:p>
                      <a:endParaRPr lang="zh-CN" altLang="en-US" sz="1000" b="0">
                        <a:effectLst/>
                      </a:endParaRPr>
                    </a:p>
                  </a:txBody>
                  <a:tcPr marL="36566" marR="36566" marT="18283" marB="18283" anchor="ctr"/>
                </a:tc>
                <a:tc>
                  <a:txBody>
                    <a:bodyPr/>
                    <a:lstStyle/>
                    <a:p>
                      <a:r>
                        <a:rPr lang="en-US" sz="1000" b="0">
                          <a:effectLst/>
                        </a:rPr>
                        <a:t>Clotho T→A</a:t>
                      </a:r>
                    </a:p>
                  </a:txBody>
                  <a:tcPr marL="36566" marR="36566" marT="18283" marB="18283" anchor="ctr"/>
                </a:tc>
                <a:tc>
                  <a:txBody>
                    <a:bodyPr/>
                    <a:lstStyle/>
                    <a:p>
                      <a:r>
                        <a:rPr lang="en-US" altLang="zh-CN" sz="1000" b="1">
                          <a:effectLst/>
                        </a:rPr>
                        <a:t>19.4</a:t>
                      </a:r>
                      <a:endParaRPr lang="zh-CN" altLang="en-US" sz="1000" b="0">
                        <a:effectLst/>
                      </a:endParaRPr>
                    </a:p>
                  </a:txBody>
                  <a:tcPr marL="36566" marR="36566" marT="18283" marB="18283" anchor="ctr"/>
                </a:tc>
                <a:tc>
                  <a:txBody>
                    <a:bodyPr/>
                    <a:lstStyle/>
                    <a:p>
                      <a:r>
                        <a:rPr lang="en-US" altLang="zh-CN" sz="1000" b="0">
                          <a:effectLst/>
                        </a:rPr>
                        <a:t>16.9–17.2</a:t>
                      </a:r>
                    </a:p>
                  </a:txBody>
                  <a:tcPr marL="36566" marR="36566" marT="18283" marB="18283" anchor="ctr"/>
                </a:tc>
                <a:tc>
                  <a:txBody>
                    <a:bodyPr/>
                    <a:lstStyle/>
                    <a:p>
                      <a:r>
                        <a:rPr lang="en-US" sz="1000" b="0">
                          <a:effectLst/>
                        </a:rPr>
                        <a:t>M2D-CLAP</a:t>
                      </a:r>
                    </a:p>
                  </a:txBody>
                  <a:tcPr marL="36566" marR="36566" marT="18283" marB="18283" anchor="ctr"/>
                </a:tc>
                <a:extLst>
                  <a:ext uri="{0D108BD9-81ED-4DB2-BD59-A6C34878D82A}">
                    <a16:rowId xmlns:a16="http://schemas.microsoft.com/office/drawing/2014/main" val="3435910164"/>
                  </a:ext>
                </a:extLst>
              </a:tr>
              <a:tr h="293496">
                <a:tc>
                  <a:txBody>
                    <a:bodyPr/>
                    <a:lstStyle/>
                    <a:p>
                      <a:endParaRPr lang="zh-CN" altLang="en-US" sz="1000" b="0">
                        <a:effectLst/>
                      </a:endParaRPr>
                    </a:p>
                  </a:txBody>
                  <a:tcPr marL="36566" marR="36566" marT="18283" marB="18283" anchor="ctr"/>
                </a:tc>
                <a:tc>
                  <a:txBody>
                    <a:bodyPr/>
                    <a:lstStyle/>
                    <a:p>
                      <a:r>
                        <a:rPr lang="en-US" sz="1000" b="0">
                          <a:effectLst/>
                        </a:rPr>
                        <a:t>Clotho A→T</a:t>
                      </a:r>
                    </a:p>
                  </a:txBody>
                  <a:tcPr marL="36566" marR="36566" marT="18283" marB="18283" anchor="ctr"/>
                </a:tc>
                <a:tc>
                  <a:txBody>
                    <a:bodyPr/>
                    <a:lstStyle/>
                    <a:p>
                      <a:r>
                        <a:rPr lang="en-US" altLang="zh-CN" sz="1000" b="1">
                          <a:effectLst/>
                        </a:rPr>
                        <a:t>31.2</a:t>
                      </a:r>
                      <a:endParaRPr lang="zh-CN" altLang="en-US" sz="1000" b="0">
                        <a:effectLst/>
                      </a:endParaRPr>
                    </a:p>
                  </a:txBody>
                  <a:tcPr marL="36566" marR="36566" marT="18283" marB="18283" anchor="ctr"/>
                </a:tc>
                <a:tc>
                  <a:txBody>
                    <a:bodyPr/>
                    <a:lstStyle/>
                    <a:p>
                      <a:r>
                        <a:rPr lang="en-US" altLang="zh-CN" sz="1000" b="0">
                          <a:effectLst/>
                        </a:rPr>
                        <a:t>24.4</a:t>
                      </a:r>
                    </a:p>
                  </a:txBody>
                  <a:tcPr marL="36566" marR="36566" marT="18283" marB="18283" anchor="ctr"/>
                </a:tc>
                <a:tc>
                  <a:txBody>
                    <a:bodyPr/>
                    <a:lstStyle/>
                    <a:p>
                      <a:r>
                        <a:rPr lang="en-US" sz="1000" b="0">
                          <a:effectLst/>
                        </a:rPr>
                        <a:t>M2D-CLAP</a:t>
                      </a:r>
                    </a:p>
                  </a:txBody>
                  <a:tcPr marL="36566" marR="36566" marT="18283" marB="18283" anchor="ctr"/>
                </a:tc>
                <a:extLst>
                  <a:ext uri="{0D108BD9-81ED-4DB2-BD59-A6C34878D82A}">
                    <a16:rowId xmlns:a16="http://schemas.microsoft.com/office/drawing/2014/main" val="3164452955"/>
                  </a:ext>
                </a:extLst>
              </a:tr>
              <a:tr h="545064"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effectLst/>
                        </a:rPr>
                        <a:t>零样本分类</a:t>
                      </a:r>
                      <a:r>
                        <a:rPr lang="zh-CN" altLang="en-US" sz="1000" b="0">
                          <a:effectLst/>
                        </a:rPr>
                        <a:t> </a:t>
                      </a:r>
                      <a:r>
                        <a:rPr lang="en-US" altLang="zh-CN" sz="1000" b="0">
                          <a:effectLst/>
                        </a:rPr>
                        <a:t>(</a:t>
                      </a:r>
                      <a:r>
                        <a:rPr lang="en-US" sz="1000" b="0">
                          <a:effectLst/>
                        </a:rPr>
                        <a:t>Acc%)</a:t>
                      </a:r>
                    </a:p>
                  </a:txBody>
                  <a:tcPr marL="36566" marR="36566" marT="18283" marB="18283" anchor="ctr"/>
                </a:tc>
                <a:tc>
                  <a:txBody>
                    <a:bodyPr/>
                    <a:lstStyle/>
                    <a:p>
                      <a:r>
                        <a:rPr lang="en-US" sz="1000" b="0">
                          <a:effectLst/>
                        </a:rPr>
                        <a:t>ESC-50</a:t>
                      </a:r>
                    </a:p>
                  </a:txBody>
                  <a:tcPr marL="36566" marR="36566" marT="18283" marB="18283" anchor="ctr"/>
                </a:tc>
                <a:tc>
                  <a:txBody>
                    <a:bodyPr/>
                    <a:lstStyle/>
                    <a:p>
                      <a:r>
                        <a:rPr lang="en-US" altLang="zh-CN" sz="1000" b="1">
                          <a:effectLst/>
                        </a:rPr>
                        <a:t>94.3</a:t>
                      </a:r>
                      <a:endParaRPr lang="zh-CN" altLang="en-US" sz="1000" b="0">
                        <a:effectLst/>
                      </a:endParaRPr>
                    </a:p>
                  </a:txBody>
                  <a:tcPr marL="36566" marR="36566" marT="18283" marB="18283" anchor="ctr"/>
                </a:tc>
                <a:tc>
                  <a:txBody>
                    <a:bodyPr/>
                    <a:lstStyle/>
                    <a:p>
                      <a:r>
                        <a:rPr lang="en-US" altLang="zh-CN" sz="1000" b="0">
                          <a:effectLst/>
                        </a:rPr>
                        <a:t>91.0</a:t>
                      </a:r>
                    </a:p>
                  </a:txBody>
                  <a:tcPr marL="36566" marR="36566" marT="18283" marB="18283" anchor="ctr"/>
                </a:tc>
                <a:tc>
                  <a:txBody>
                    <a:bodyPr/>
                    <a:lstStyle/>
                    <a:p>
                      <a:r>
                        <a:rPr lang="en-US" sz="1000" b="0">
                          <a:effectLst/>
                        </a:rPr>
                        <a:t>M2D-CLAP</a:t>
                      </a:r>
                    </a:p>
                  </a:txBody>
                  <a:tcPr marL="36566" marR="36566" marT="18283" marB="18283" anchor="ctr"/>
                </a:tc>
                <a:extLst>
                  <a:ext uri="{0D108BD9-81ED-4DB2-BD59-A6C34878D82A}">
                    <a16:rowId xmlns:a16="http://schemas.microsoft.com/office/drawing/2014/main" val="2650727269"/>
                  </a:ext>
                </a:extLst>
              </a:tr>
              <a:tr h="293496">
                <a:tc>
                  <a:txBody>
                    <a:bodyPr/>
                    <a:lstStyle/>
                    <a:p>
                      <a:endParaRPr lang="zh-CN" altLang="en-US" sz="1000" b="0">
                        <a:effectLst/>
                      </a:endParaRPr>
                    </a:p>
                  </a:txBody>
                  <a:tcPr marL="36566" marR="36566" marT="18283" marB="18283" anchor="ctr"/>
                </a:tc>
                <a:tc>
                  <a:txBody>
                    <a:bodyPr/>
                    <a:lstStyle/>
                    <a:p>
                      <a:r>
                        <a:rPr lang="en-US" sz="1000" b="0">
                          <a:effectLst/>
                        </a:rPr>
                        <a:t>US8K</a:t>
                      </a:r>
                    </a:p>
                  </a:txBody>
                  <a:tcPr marL="36566" marR="36566" marT="18283" marB="18283" anchor="ctr"/>
                </a:tc>
                <a:tc>
                  <a:txBody>
                    <a:bodyPr/>
                    <a:lstStyle/>
                    <a:p>
                      <a:r>
                        <a:rPr lang="en-US" altLang="zh-CN" sz="1000" b="1">
                          <a:effectLst/>
                        </a:rPr>
                        <a:t>82.3</a:t>
                      </a:r>
                      <a:endParaRPr lang="zh-CN" altLang="en-US" sz="1000" b="0">
                        <a:effectLst/>
                      </a:endParaRPr>
                    </a:p>
                  </a:txBody>
                  <a:tcPr marL="36566" marR="36566" marT="18283" marB="18283" anchor="ctr"/>
                </a:tc>
                <a:tc>
                  <a:txBody>
                    <a:bodyPr/>
                    <a:lstStyle/>
                    <a:p>
                      <a:r>
                        <a:rPr lang="en-US" altLang="zh-CN" sz="1000" b="0">
                          <a:effectLst/>
                        </a:rPr>
                        <a:t>77.0</a:t>
                      </a:r>
                    </a:p>
                  </a:txBody>
                  <a:tcPr marL="36566" marR="36566" marT="18283" marB="18283" anchor="ctr"/>
                </a:tc>
                <a:tc>
                  <a:txBody>
                    <a:bodyPr/>
                    <a:lstStyle/>
                    <a:p>
                      <a:r>
                        <a:rPr lang="en-US" sz="1000" b="0">
                          <a:effectLst/>
                        </a:rPr>
                        <a:t>M2D-CLAP</a:t>
                      </a:r>
                    </a:p>
                  </a:txBody>
                  <a:tcPr marL="36566" marR="36566" marT="18283" marB="18283" anchor="ctr"/>
                </a:tc>
                <a:extLst>
                  <a:ext uri="{0D108BD9-81ED-4DB2-BD59-A6C34878D82A}">
                    <a16:rowId xmlns:a16="http://schemas.microsoft.com/office/drawing/2014/main" val="2136804079"/>
                  </a:ext>
                </a:extLst>
              </a:tr>
              <a:tr h="293496">
                <a:tc>
                  <a:txBody>
                    <a:bodyPr/>
                    <a:lstStyle/>
                    <a:p>
                      <a:endParaRPr lang="zh-CN" altLang="en-US" sz="1000" b="0">
                        <a:effectLst/>
                      </a:endParaRPr>
                    </a:p>
                  </a:txBody>
                  <a:tcPr marL="36566" marR="36566" marT="18283" marB="18283" anchor="ctr"/>
                </a:tc>
                <a:tc>
                  <a:txBody>
                    <a:bodyPr/>
                    <a:lstStyle/>
                    <a:p>
                      <a:r>
                        <a:rPr lang="en-US" sz="1000" b="0">
                          <a:effectLst/>
                        </a:rPr>
                        <a:t>GTZAN</a:t>
                      </a:r>
                    </a:p>
                  </a:txBody>
                  <a:tcPr marL="36566" marR="36566" marT="18283" marB="18283" anchor="ctr"/>
                </a:tc>
                <a:tc>
                  <a:txBody>
                    <a:bodyPr/>
                    <a:lstStyle/>
                    <a:p>
                      <a:r>
                        <a:rPr lang="en-US" altLang="zh-CN" sz="1000" b="1">
                          <a:effectLst/>
                        </a:rPr>
                        <a:t>70.7</a:t>
                      </a:r>
                      <a:endParaRPr lang="zh-CN" altLang="en-US" sz="1000" b="0">
                        <a:effectLst/>
                      </a:endParaRPr>
                    </a:p>
                  </a:txBody>
                  <a:tcPr marL="36566" marR="36566" marT="18283" marB="18283" anchor="ctr"/>
                </a:tc>
                <a:tc>
                  <a:txBody>
                    <a:bodyPr/>
                    <a:lstStyle/>
                    <a:p>
                      <a:r>
                        <a:rPr lang="en-US" altLang="zh-CN" sz="1000" b="0">
                          <a:effectLst/>
                        </a:rPr>
                        <a:t>47.2</a:t>
                      </a:r>
                    </a:p>
                  </a:txBody>
                  <a:tcPr marL="36566" marR="36566" marT="18283" marB="18283" anchor="ctr"/>
                </a:tc>
                <a:tc>
                  <a:txBody>
                    <a:bodyPr/>
                    <a:lstStyle/>
                    <a:p>
                      <a:r>
                        <a:rPr lang="en-US" sz="1000" b="0">
                          <a:effectLst/>
                        </a:rPr>
                        <a:t>M2D-CLAP</a:t>
                      </a:r>
                    </a:p>
                  </a:txBody>
                  <a:tcPr marL="36566" marR="36566" marT="18283" marB="18283" anchor="ctr"/>
                </a:tc>
                <a:extLst>
                  <a:ext uri="{0D108BD9-81ED-4DB2-BD59-A6C34878D82A}">
                    <a16:rowId xmlns:a16="http://schemas.microsoft.com/office/drawing/2014/main" val="3835692505"/>
                  </a:ext>
                </a:extLst>
              </a:tr>
              <a:tr h="293496">
                <a:tc>
                  <a:txBody>
                    <a:bodyPr/>
                    <a:lstStyle/>
                    <a:p>
                      <a:endParaRPr lang="zh-CN" altLang="en-US" sz="1000" b="0">
                        <a:effectLst/>
                      </a:endParaRPr>
                    </a:p>
                  </a:txBody>
                  <a:tcPr marL="36566" marR="36566" marT="18283" marB="18283" anchor="ctr"/>
                </a:tc>
                <a:tc>
                  <a:txBody>
                    <a:bodyPr/>
                    <a:lstStyle/>
                    <a:p>
                      <a:r>
                        <a:rPr lang="en-US" sz="1000" b="0">
                          <a:effectLst/>
                        </a:rPr>
                        <a:t>NSynth (</a:t>
                      </a:r>
                      <a:r>
                        <a:rPr lang="zh-CN" altLang="en-US" sz="1000" b="0">
                          <a:effectLst/>
                        </a:rPr>
                        <a:t>音高</a:t>
                      </a:r>
                      <a:r>
                        <a:rPr lang="en-US" altLang="zh-CN" sz="1000" b="0">
                          <a:effectLst/>
                        </a:rPr>
                        <a:t>)</a:t>
                      </a:r>
                    </a:p>
                  </a:txBody>
                  <a:tcPr marL="36566" marR="36566" marT="18283" marB="18283" anchor="ctr"/>
                </a:tc>
                <a:tc>
                  <a:txBody>
                    <a:bodyPr/>
                    <a:lstStyle/>
                    <a:p>
                      <a:r>
                        <a:rPr lang="en-US" altLang="zh-CN" sz="1000" b="0">
                          <a:effectLst/>
                        </a:rPr>
                        <a:t>30.6</a:t>
                      </a:r>
                    </a:p>
                  </a:txBody>
                  <a:tcPr marL="36566" marR="36566" marT="18283" marB="18283" anchor="ctr"/>
                </a:tc>
                <a:tc>
                  <a:txBody>
                    <a:bodyPr/>
                    <a:lstStyle/>
                    <a:p>
                      <a:r>
                        <a:rPr lang="en-US" altLang="zh-CN" sz="1000" b="1">
                          <a:effectLst/>
                        </a:rPr>
                        <a:t>35.3</a:t>
                      </a:r>
                      <a:endParaRPr lang="zh-CN" altLang="en-US" sz="1000" b="0">
                        <a:effectLst/>
                      </a:endParaRPr>
                    </a:p>
                  </a:txBody>
                  <a:tcPr marL="36566" marR="36566" marT="18283" marB="18283" anchor="ctr"/>
                </a:tc>
                <a:tc>
                  <a:txBody>
                    <a:bodyPr/>
                    <a:lstStyle/>
                    <a:p>
                      <a:r>
                        <a:rPr lang="en-US" sz="1000" b="0">
                          <a:effectLst/>
                        </a:rPr>
                        <a:t>LAION-CLAP</a:t>
                      </a:r>
                    </a:p>
                  </a:txBody>
                  <a:tcPr marL="36566" marR="36566" marT="18283" marB="18283" anchor="ctr"/>
                </a:tc>
                <a:extLst>
                  <a:ext uri="{0D108BD9-81ED-4DB2-BD59-A6C34878D82A}">
                    <a16:rowId xmlns:a16="http://schemas.microsoft.com/office/drawing/2014/main" val="589832149"/>
                  </a:ext>
                </a:extLst>
              </a:tr>
              <a:tr h="293496">
                <a:tc>
                  <a:txBody>
                    <a:bodyPr/>
                    <a:lstStyle/>
                    <a:p>
                      <a:endParaRPr lang="zh-CN" altLang="en-US" sz="1000" b="0">
                        <a:effectLst/>
                      </a:endParaRPr>
                    </a:p>
                  </a:txBody>
                  <a:tcPr marL="36566" marR="36566" marT="18283" marB="18283" anchor="ctr"/>
                </a:tc>
                <a:tc>
                  <a:txBody>
                    <a:bodyPr/>
                    <a:lstStyle/>
                    <a:p>
                      <a:r>
                        <a:rPr lang="en-US" sz="1000" b="0">
                          <a:effectLst/>
                        </a:rPr>
                        <a:t>FSD50K (mAP)</a:t>
                      </a:r>
                    </a:p>
                  </a:txBody>
                  <a:tcPr marL="36566" marR="36566" marT="18283" marB="18283" anchor="ctr"/>
                </a:tc>
                <a:tc>
                  <a:txBody>
                    <a:bodyPr/>
                    <a:lstStyle/>
                    <a:p>
                      <a:r>
                        <a:rPr lang="en-US" altLang="zh-CN" sz="1000" b="0">
                          <a:effectLst/>
                        </a:rPr>
                        <a:t>50.0</a:t>
                      </a:r>
                    </a:p>
                  </a:txBody>
                  <a:tcPr marL="36566" marR="36566" marT="18283" marB="18283" anchor="ctr"/>
                </a:tc>
                <a:tc>
                  <a:txBody>
                    <a:bodyPr/>
                    <a:lstStyle/>
                    <a:p>
                      <a:r>
                        <a:rPr lang="en-US" altLang="zh-CN" sz="1000" b="1">
                          <a:effectLst/>
                        </a:rPr>
                        <a:t>59.7</a:t>
                      </a:r>
                      <a:endParaRPr lang="zh-CN" altLang="en-US" sz="1000" b="0">
                        <a:effectLst/>
                      </a:endParaRPr>
                    </a:p>
                  </a:txBody>
                  <a:tcPr marL="36566" marR="36566" marT="18283" marB="18283" anchor="ctr"/>
                </a:tc>
                <a:tc>
                  <a:txBody>
                    <a:bodyPr/>
                    <a:lstStyle/>
                    <a:p>
                      <a:r>
                        <a:rPr lang="en-US" sz="1000" b="0">
                          <a:effectLst/>
                        </a:rPr>
                        <a:t>LAION-CLAP</a:t>
                      </a:r>
                    </a:p>
                  </a:txBody>
                  <a:tcPr marL="36566" marR="36566" marT="18283" marB="18283" anchor="ctr"/>
                </a:tc>
                <a:extLst>
                  <a:ext uri="{0D108BD9-81ED-4DB2-BD59-A6C34878D82A}">
                    <a16:rowId xmlns:a16="http://schemas.microsoft.com/office/drawing/2014/main" val="2651189045"/>
                  </a:ext>
                </a:extLst>
              </a:tr>
              <a:tr h="419280"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effectLst/>
                        </a:rPr>
                        <a:t>监督微调</a:t>
                      </a:r>
                      <a:endParaRPr lang="zh-CN" altLang="en-US" sz="1000" b="0">
                        <a:effectLst/>
                      </a:endParaRPr>
                    </a:p>
                  </a:txBody>
                  <a:tcPr marL="36566" marR="36566" marT="18283" marB="18283" anchor="ctr"/>
                </a:tc>
                <a:tc>
                  <a:txBody>
                    <a:bodyPr/>
                    <a:lstStyle/>
                    <a:p>
                      <a:r>
                        <a:rPr lang="en-US" sz="1000" b="0">
                          <a:effectLst/>
                        </a:rPr>
                        <a:t>AudioSet (AS2M mAP)</a:t>
                      </a:r>
                    </a:p>
                  </a:txBody>
                  <a:tcPr marL="36566" marR="36566" marT="18283" marB="18283" anchor="ctr"/>
                </a:tc>
                <a:tc>
                  <a:txBody>
                    <a:bodyPr/>
                    <a:lstStyle/>
                    <a:p>
                      <a:r>
                        <a:rPr lang="en-US" altLang="zh-CN" sz="1000" b="1">
                          <a:effectLst/>
                        </a:rPr>
                        <a:t>49.0</a:t>
                      </a:r>
                      <a:endParaRPr lang="zh-CN" altLang="en-US" sz="1000" b="0">
                        <a:effectLst/>
                      </a:endParaRPr>
                    </a:p>
                  </a:txBody>
                  <a:tcPr marL="36566" marR="36566" marT="18283" marB="18283" anchor="ctr"/>
                </a:tc>
                <a:tc>
                  <a:txBody>
                    <a:bodyPr/>
                    <a:lstStyle/>
                    <a:p>
                      <a:r>
                        <a:rPr lang="en-US" altLang="zh-CN" sz="1000" b="0">
                          <a:effectLst/>
                        </a:rPr>
                        <a:t>-</a:t>
                      </a:r>
                    </a:p>
                  </a:txBody>
                  <a:tcPr marL="36566" marR="36566" marT="18283" marB="18283" anchor="ctr"/>
                </a:tc>
                <a:tc>
                  <a:txBody>
                    <a:bodyPr/>
                    <a:lstStyle/>
                    <a:p>
                      <a:r>
                        <a:rPr lang="en-US" sz="1000" b="0">
                          <a:effectLst/>
                        </a:rPr>
                        <a:t>M2D-CLAP</a:t>
                      </a:r>
                    </a:p>
                  </a:txBody>
                  <a:tcPr marL="36566" marR="36566" marT="18283" marB="18283" anchor="ctr"/>
                </a:tc>
                <a:extLst>
                  <a:ext uri="{0D108BD9-81ED-4DB2-BD59-A6C34878D82A}">
                    <a16:rowId xmlns:a16="http://schemas.microsoft.com/office/drawing/2014/main" val="3191344568"/>
                  </a:ext>
                </a:extLst>
              </a:tr>
              <a:tr h="293496">
                <a:tc>
                  <a:txBody>
                    <a:bodyPr/>
                    <a:lstStyle/>
                    <a:p>
                      <a:endParaRPr lang="zh-CN" altLang="en-US" sz="1000" b="0">
                        <a:effectLst/>
                      </a:endParaRPr>
                    </a:p>
                  </a:txBody>
                  <a:tcPr marL="36566" marR="36566" marT="18283" marB="18283" anchor="ctr"/>
                </a:tc>
                <a:tc>
                  <a:txBody>
                    <a:bodyPr/>
                    <a:lstStyle/>
                    <a:p>
                      <a:r>
                        <a:rPr lang="en-US" sz="1000" b="0">
                          <a:effectLst/>
                        </a:rPr>
                        <a:t>ESC-50 (Acc%)</a:t>
                      </a:r>
                    </a:p>
                  </a:txBody>
                  <a:tcPr marL="36566" marR="36566" marT="18283" marB="18283" anchor="ctr"/>
                </a:tc>
                <a:tc>
                  <a:txBody>
                    <a:bodyPr/>
                    <a:lstStyle/>
                    <a:p>
                      <a:r>
                        <a:rPr lang="en-US" altLang="zh-CN" sz="1000" b="1">
                          <a:effectLst/>
                        </a:rPr>
                        <a:t>98.5</a:t>
                      </a:r>
                      <a:endParaRPr lang="zh-CN" altLang="en-US" sz="1000" b="0">
                        <a:effectLst/>
                      </a:endParaRPr>
                    </a:p>
                  </a:txBody>
                  <a:tcPr marL="36566" marR="36566" marT="18283" marB="18283" anchor="ctr"/>
                </a:tc>
                <a:tc>
                  <a:txBody>
                    <a:bodyPr/>
                    <a:lstStyle/>
                    <a:p>
                      <a:r>
                        <a:rPr lang="en-US" altLang="zh-CN" sz="1000" b="0">
                          <a:effectLst/>
                        </a:rPr>
                        <a:t>~97–98</a:t>
                      </a:r>
                    </a:p>
                  </a:txBody>
                  <a:tcPr marL="36566" marR="36566" marT="18283" marB="18283" anchor="ctr"/>
                </a:tc>
                <a:tc>
                  <a:txBody>
                    <a:bodyPr/>
                    <a:lstStyle/>
                    <a:p>
                      <a:r>
                        <a:rPr lang="en-US" sz="1000" b="0">
                          <a:effectLst/>
                        </a:rPr>
                        <a:t>M2D-CLAP</a:t>
                      </a:r>
                    </a:p>
                  </a:txBody>
                  <a:tcPr marL="36566" marR="36566" marT="18283" marB="18283" anchor="ctr"/>
                </a:tc>
                <a:extLst>
                  <a:ext uri="{0D108BD9-81ED-4DB2-BD59-A6C34878D82A}">
                    <a16:rowId xmlns:a16="http://schemas.microsoft.com/office/drawing/2014/main" val="2258140358"/>
                  </a:ext>
                </a:extLst>
              </a:tr>
              <a:tr h="545064"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effectLst/>
                        </a:rPr>
                        <a:t>音频字幕生成</a:t>
                      </a:r>
                      <a:r>
                        <a:rPr lang="zh-CN" altLang="en-US" sz="1000" b="0">
                          <a:effectLst/>
                        </a:rPr>
                        <a:t> </a:t>
                      </a:r>
                      <a:r>
                        <a:rPr lang="en-US" altLang="zh-CN" sz="1000" b="0">
                          <a:effectLst/>
                        </a:rPr>
                        <a:t>(</a:t>
                      </a:r>
                      <a:r>
                        <a:rPr lang="en-US" sz="1000" b="0">
                          <a:effectLst/>
                        </a:rPr>
                        <a:t>SPIDEr)</a:t>
                      </a:r>
                    </a:p>
                  </a:txBody>
                  <a:tcPr marL="36566" marR="36566" marT="18283" marB="18283" anchor="ctr"/>
                </a:tc>
                <a:tc>
                  <a:txBody>
                    <a:bodyPr/>
                    <a:lstStyle/>
                    <a:p>
                      <a:r>
                        <a:rPr lang="en-US" sz="1000" b="0">
                          <a:effectLst/>
                        </a:rPr>
                        <a:t>AudioCaps</a:t>
                      </a:r>
                    </a:p>
                  </a:txBody>
                  <a:tcPr marL="36566" marR="36566" marT="18283" marB="18283" anchor="ctr"/>
                </a:tc>
                <a:tc>
                  <a:txBody>
                    <a:bodyPr/>
                    <a:lstStyle/>
                    <a:p>
                      <a:r>
                        <a:rPr lang="en-US" altLang="zh-CN" sz="1000" b="1">
                          <a:effectLst/>
                        </a:rPr>
                        <a:t>45.0</a:t>
                      </a:r>
                      <a:endParaRPr lang="zh-CN" altLang="en-US" sz="1000" b="0">
                        <a:effectLst/>
                      </a:endParaRPr>
                    </a:p>
                  </a:txBody>
                  <a:tcPr marL="36566" marR="36566" marT="18283" marB="18283" anchor="ctr"/>
                </a:tc>
                <a:tc>
                  <a:txBody>
                    <a:bodyPr/>
                    <a:lstStyle/>
                    <a:p>
                      <a:r>
                        <a:rPr lang="en-US" altLang="zh-CN" sz="1000" b="0">
                          <a:effectLst/>
                        </a:rPr>
                        <a:t>44.6</a:t>
                      </a:r>
                    </a:p>
                  </a:txBody>
                  <a:tcPr marL="36566" marR="36566" marT="18283" marB="18283" anchor="ctr"/>
                </a:tc>
                <a:tc>
                  <a:txBody>
                    <a:bodyPr/>
                    <a:lstStyle/>
                    <a:p>
                      <a:r>
                        <a:rPr lang="en-US" sz="1000" b="0">
                          <a:effectLst/>
                        </a:rPr>
                        <a:t>M2D-CLAP</a:t>
                      </a:r>
                    </a:p>
                  </a:txBody>
                  <a:tcPr marL="36566" marR="36566" marT="18283" marB="18283" anchor="ctr"/>
                </a:tc>
                <a:extLst>
                  <a:ext uri="{0D108BD9-81ED-4DB2-BD59-A6C34878D82A}">
                    <a16:rowId xmlns:a16="http://schemas.microsoft.com/office/drawing/2014/main" val="1373461038"/>
                  </a:ext>
                </a:extLst>
              </a:tr>
              <a:tr h="293496">
                <a:tc>
                  <a:txBody>
                    <a:bodyPr/>
                    <a:lstStyle/>
                    <a:p>
                      <a:endParaRPr lang="zh-CN" altLang="en-US" sz="1000" b="0">
                        <a:effectLst/>
                      </a:endParaRPr>
                    </a:p>
                  </a:txBody>
                  <a:tcPr marL="36566" marR="36566" marT="18283" marB="18283" anchor="ctr"/>
                </a:tc>
                <a:tc>
                  <a:txBody>
                    <a:bodyPr/>
                    <a:lstStyle/>
                    <a:p>
                      <a:r>
                        <a:rPr lang="en-US" sz="1000" b="0">
                          <a:effectLst/>
                        </a:rPr>
                        <a:t>Clotho</a:t>
                      </a:r>
                    </a:p>
                  </a:txBody>
                  <a:tcPr marL="36566" marR="36566" marT="18283" marB="18283" anchor="ctr"/>
                </a:tc>
                <a:tc>
                  <a:txBody>
                    <a:bodyPr/>
                    <a:lstStyle/>
                    <a:p>
                      <a:r>
                        <a:rPr lang="en-US" altLang="zh-CN" sz="1000" b="1">
                          <a:effectLst/>
                        </a:rPr>
                        <a:t>27.8</a:t>
                      </a:r>
                      <a:endParaRPr lang="zh-CN" altLang="en-US" sz="1000" b="0">
                        <a:effectLst/>
                      </a:endParaRPr>
                    </a:p>
                  </a:txBody>
                  <a:tcPr marL="36566" marR="36566" marT="18283" marB="18283" anchor="ctr"/>
                </a:tc>
                <a:tc>
                  <a:txBody>
                    <a:bodyPr/>
                    <a:lstStyle/>
                    <a:p>
                      <a:r>
                        <a:rPr lang="en-US" altLang="zh-CN" sz="1000" b="0">
                          <a:effectLst/>
                        </a:rPr>
                        <a:t>26.8</a:t>
                      </a:r>
                    </a:p>
                  </a:txBody>
                  <a:tcPr marL="36566" marR="36566" marT="18283" marB="18283" anchor="ctr"/>
                </a:tc>
                <a:tc>
                  <a:txBody>
                    <a:bodyPr/>
                    <a:lstStyle/>
                    <a:p>
                      <a:r>
                        <a:rPr lang="en-US" sz="1000" b="0">
                          <a:effectLst/>
                        </a:rPr>
                        <a:t>M2D-CLAP</a:t>
                      </a:r>
                    </a:p>
                  </a:txBody>
                  <a:tcPr marL="36566" marR="36566" marT="18283" marB="18283" anchor="ctr"/>
                </a:tc>
                <a:extLst>
                  <a:ext uri="{0D108BD9-81ED-4DB2-BD59-A6C34878D82A}">
                    <a16:rowId xmlns:a16="http://schemas.microsoft.com/office/drawing/2014/main" val="38397432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09101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EB23B2-04F1-A2AC-3517-063EB85A1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31009CB2-004D-BEC2-F4EB-FF1B35C22D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519" y="603819"/>
            <a:ext cx="9132196" cy="5690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8089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222793-2B41-A368-EE13-1DA5428F0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1CB5EE92-AFA1-C09A-2169-216671216D37}"/>
              </a:ext>
            </a:extLst>
          </p:cNvPr>
          <p:cNvSpPr txBox="1"/>
          <p:nvPr/>
        </p:nvSpPr>
        <p:spPr>
          <a:xfrm>
            <a:off x="448293" y="105589"/>
            <a:ext cx="8576953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/>
              <a:t>M2D-CLAP </a:t>
            </a:r>
            <a:r>
              <a:rPr lang="zh-CN" altLang="en-US"/>
              <a:t>训练阶段目标</a:t>
            </a:r>
          </a:p>
          <a:p>
            <a:endParaRPr lang="en-US" altLang="zh-CN"/>
          </a:p>
          <a:p>
            <a:r>
              <a:rPr lang="zh-CN" altLang="en-US" b="1"/>
              <a:t>阶段 </a:t>
            </a:r>
            <a:r>
              <a:rPr lang="en-US" altLang="zh-CN" b="1"/>
              <a:t>1</a:t>
            </a:r>
            <a:r>
              <a:rPr lang="zh-CN" altLang="en-US"/>
              <a:t>：联合 </a:t>
            </a:r>
            <a:r>
              <a:rPr lang="en-US" altLang="zh-CN"/>
              <a:t>SSL + </a:t>
            </a:r>
            <a:r>
              <a:rPr lang="zh-CN" altLang="en-US"/>
              <a:t>轻量 </a:t>
            </a:r>
            <a:r>
              <a:rPr lang="en-US" altLang="zh-CN"/>
              <a:t>CLAP</a:t>
            </a:r>
            <a:r>
              <a:rPr lang="zh-CN" altLang="en-US"/>
              <a:t>（预训练音频侧）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/>
              <a:t>输入：频谱图；文本→离线推理的 </a:t>
            </a:r>
            <a:r>
              <a:rPr lang="en-US" altLang="zh-CN"/>
              <a:t>LLM </a:t>
            </a:r>
            <a:r>
              <a:rPr lang="zh-CN" altLang="en-US"/>
              <a:t>句向量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/>
              <a:t>训练：音频编码器（</a:t>
            </a:r>
            <a:r>
              <a:rPr lang="en-US" altLang="zh-CN"/>
              <a:t>ViT-Base</a:t>
            </a:r>
            <a:r>
              <a:rPr lang="zh-CN" altLang="en-US"/>
              <a:t>）、音频投影器（</a:t>
            </a:r>
            <a:r>
              <a:rPr lang="en-US" altLang="zh-CN"/>
              <a:t>1 </a:t>
            </a:r>
            <a:r>
              <a:rPr lang="zh-CN" altLang="en-US"/>
              <a:t>层 </a:t>
            </a:r>
            <a:r>
              <a:rPr lang="en-US" altLang="zh-CN"/>
              <a:t>Transformer</a:t>
            </a:r>
            <a:r>
              <a:rPr lang="zh-CN" altLang="en-US"/>
              <a:t>）；线性层将 </a:t>
            </a:r>
            <a:r>
              <a:rPr lang="en-US" altLang="zh-CN"/>
              <a:t>4096→768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/>
              <a:t>损失：</a:t>
            </a:r>
            <a:r>
              <a:rPr lang="en-US" altLang="zh-CN"/>
              <a:t>L_total = L_M2D + </a:t>
            </a:r>
            <a:r>
              <a:rPr lang="el-GR" altLang="zh-CN"/>
              <a:t>λ_</a:t>
            </a:r>
            <a:r>
              <a:rPr lang="en-US" altLang="zh-CN"/>
              <a:t>clap·L_CLAP</a:t>
            </a:r>
            <a:r>
              <a:rPr lang="zh-CN" altLang="en-US"/>
              <a:t>（</a:t>
            </a:r>
            <a:r>
              <a:rPr lang="el-GR" altLang="zh-CN"/>
              <a:t>λ_</a:t>
            </a:r>
            <a:r>
              <a:rPr lang="en-US" altLang="zh-CN"/>
              <a:t>clap ≈ 0.01</a:t>
            </a:r>
            <a:r>
              <a:rPr lang="zh-CN" altLang="en-US"/>
              <a:t>），温度 </a:t>
            </a:r>
            <a:r>
              <a:rPr lang="el-GR" altLang="zh-CN"/>
              <a:t>τ </a:t>
            </a:r>
            <a:r>
              <a:rPr lang="zh-CN" altLang="en-US"/>
              <a:t>可学习（初始 </a:t>
            </a:r>
            <a:r>
              <a:rPr lang="en-US" altLang="zh-CN"/>
              <a:t>~0.07</a:t>
            </a:r>
            <a:r>
              <a:rPr lang="zh-CN" altLang="en-US"/>
              <a:t>，裁剪）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/>
              <a:t>设置：</a:t>
            </a:r>
            <a:r>
              <a:rPr lang="en-US" altLang="zh-CN"/>
              <a:t>6 </a:t>
            </a:r>
            <a:r>
              <a:rPr lang="zh-CN" altLang="en-US"/>
              <a:t>秒片段，</a:t>
            </a:r>
            <a:r>
              <a:rPr lang="en-US" altLang="zh-CN"/>
              <a:t>mask </a:t>
            </a:r>
            <a:r>
              <a:rPr lang="zh-CN" altLang="en-US"/>
              <a:t>比例 </a:t>
            </a:r>
            <a:r>
              <a:rPr lang="en-US" altLang="zh-CN"/>
              <a:t>0.7</a:t>
            </a:r>
            <a:r>
              <a:rPr lang="zh-CN" altLang="en-US"/>
              <a:t>，</a:t>
            </a:r>
            <a:r>
              <a:rPr lang="en-US" altLang="zh-CN"/>
              <a:t>batch 2048</a:t>
            </a:r>
            <a:r>
              <a:rPr lang="zh-CN" altLang="en-US"/>
              <a:t>（</a:t>
            </a:r>
            <a:r>
              <a:rPr lang="en-US" altLang="zh-CN"/>
              <a:t>4×A100</a:t>
            </a:r>
            <a:r>
              <a:rPr lang="zh-CN" altLang="en-US"/>
              <a:t>），训练 </a:t>
            </a:r>
            <a:r>
              <a:rPr lang="en-US" altLang="zh-CN"/>
              <a:t>300 </a:t>
            </a:r>
            <a:r>
              <a:rPr lang="zh-CN" altLang="en-US"/>
              <a:t>轮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/>
              <a:t>产出：具备语义蒸馏的通用音频特征；</a:t>
            </a:r>
            <a:r>
              <a:rPr lang="en-US" altLang="zh-CN"/>
              <a:t>CLAP </a:t>
            </a:r>
            <a:r>
              <a:rPr lang="zh-CN" altLang="en-US"/>
              <a:t>就绪的音频投影器</a:t>
            </a:r>
          </a:p>
          <a:p>
            <a:r>
              <a:rPr lang="zh-CN" altLang="en-US" b="1"/>
              <a:t>阶段 </a:t>
            </a:r>
            <a:r>
              <a:rPr lang="en-US" altLang="zh-CN" b="1"/>
              <a:t>1.1</a:t>
            </a:r>
            <a:r>
              <a:rPr lang="zh-CN" altLang="en-US"/>
              <a:t>（可选）：</a:t>
            </a:r>
            <a:r>
              <a:rPr lang="en-US" altLang="zh-CN"/>
              <a:t>AudioSet </a:t>
            </a:r>
            <a:r>
              <a:rPr lang="zh-CN" altLang="en-US"/>
              <a:t>有监督微调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/>
              <a:t>训练：音频编码器（</a:t>
            </a:r>
            <a:r>
              <a:rPr lang="en-US" altLang="zh-CN"/>
              <a:t>+</a:t>
            </a:r>
            <a:r>
              <a:rPr lang="zh-CN" altLang="en-US"/>
              <a:t>分类头）；仅用标签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/>
              <a:t>产出：提升 </a:t>
            </a:r>
            <a:r>
              <a:rPr lang="en-US" altLang="zh-CN"/>
              <a:t>AudioSet </a:t>
            </a:r>
            <a:r>
              <a:rPr lang="zh-CN" altLang="en-US"/>
              <a:t>分布任务与 </a:t>
            </a:r>
            <a:r>
              <a:rPr lang="en-US" altLang="zh-CN"/>
              <a:t>AudioCaps </a:t>
            </a:r>
            <a:r>
              <a:rPr lang="zh-CN" altLang="en-US"/>
              <a:t>对齐；对说话人识别可能有权衡</a:t>
            </a:r>
          </a:p>
          <a:p>
            <a:r>
              <a:rPr lang="zh-CN" altLang="en-US" b="1"/>
              <a:t>阶段 </a:t>
            </a:r>
            <a:r>
              <a:rPr lang="en-US" altLang="zh-CN" b="1"/>
              <a:t>2</a:t>
            </a:r>
            <a:r>
              <a:rPr lang="zh-CN" altLang="en-US"/>
              <a:t>：仅 </a:t>
            </a:r>
            <a:r>
              <a:rPr lang="en-US" altLang="zh-CN"/>
              <a:t>CLAP</a:t>
            </a:r>
            <a:r>
              <a:rPr lang="zh-CN" altLang="en-US"/>
              <a:t>（对齐文本，冻结音频）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/>
              <a:t>冻结：音频编码器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/>
              <a:t>训练：文本编码器（</a:t>
            </a:r>
            <a:r>
              <a:rPr lang="en-US" altLang="zh-CN"/>
              <a:t>BERT-base</a:t>
            </a:r>
            <a:r>
              <a:rPr lang="zh-CN" altLang="en-US"/>
              <a:t>）、音频投影器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/>
              <a:t>损失：对称 </a:t>
            </a:r>
            <a:r>
              <a:rPr lang="en-US" altLang="zh-CN"/>
              <a:t>NT-Xent </a:t>
            </a:r>
            <a:r>
              <a:rPr lang="zh-CN" altLang="en-US"/>
              <a:t>对比；低掩码，使用完整</a:t>
            </a:r>
            <a:r>
              <a:rPr lang="en-US" altLang="zh-CN"/>
              <a:t>/10 </a:t>
            </a:r>
            <a:r>
              <a:rPr lang="zh-CN" altLang="en-US"/>
              <a:t>秒音频以稳定相似度学习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/>
              <a:t>数据：在阶段 </a:t>
            </a:r>
            <a:r>
              <a:rPr lang="en-US" altLang="zh-CN"/>
              <a:t>1 </a:t>
            </a:r>
            <a:r>
              <a:rPr lang="zh-CN" altLang="en-US"/>
              <a:t>数据基础上加入 </a:t>
            </a:r>
            <a:r>
              <a:rPr lang="en-US" altLang="zh-CN"/>
              <a:t>AudioCaps </a:t>
            </a:r>
            <a:r>
              <a:rPr lang="zh-CN" altLang="en-US"/>
              <a:t>与 </a:t>
            </a:r>
            <a:r>
              <a:rPr lang="en-US" altLang="zh-CN"/>
              <a:t>Clotho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/>
              <a:t>产出：精确的音频</a:t>
            </a:r>
            <a:r>
              <a:rPr lang="en-US" altLang="zh-CN"/>
              <a:t>-</a:t>
            </a:r>
            <a:r>
              <a:rPr lang="zh-CN" altLang="en-US"/>
              <a:t>文本对齐，用于检索与零样本分类</a:t>
            </a:r>
          </a:p>
          <a:p>
            <a:r>
              <a:rPr lang="zh-CN" altLang="en-US" b="1"/>
              <a:t>阶段 </a:t>
            </a:r>
            <a:r>
              <a:rPr lang="en-US" altLang="zh-CN" b="1"/>
              <a:t>2.1</a:t>
            </a:r>
            <a:r>
              <a:rPr lang="zh-CN" altLang="en-US"/>
              <a:t>（可选）：检索</a:t>
            </a:r>
            <a:r>
              <a:rPr lang="en-US" altLang="zh-CN"/>
              <a:t>/</a:t>
            </a:r>
            <a:r>
              <a:rPr lang="zh-CN" altLang="en-US"/>
              <a:t>描述基准微调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/>
              <a:t>数据：</a:t>
            </a:r>
            <a:r>
              <a:rPr lang="en-US" altLang="zh-CN"/>
              <a:t>WavCaps + AudioCaps + Clotho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/>
              <a:t>产出：进一步提升 </a:t>
            </a:r>
            <a:r>
              <a:rPr lang="en-US" altLang="zh-CN"/>
              <a:t>R@k/mAP </a:t>
            </a:r>
            <a:r>
              <a:rPr lang="zh-CN" altLang="en-US"/>
              <a:t>与描述指标（</a:t>
            </a:r>
            <a:r>
              <a:rPr lang="en-US" altLang="zh-CN"/>
              <a:t>SPIDEr/CIDEr </a:t>
            </a:r>
            <a:r>
              <a:rPr lang="zh-CN" altLang="en-US"/>
              <a:t>等）</a:t>
            </a:r>
          </a:p>
        </p:txBody>
      </p:sp>
    </p:spTree>
    <p:extLst>
      <p:ext uri="{BB962C8B-B14F-4D97-AF65-F5344CB8AC3E}">
        <p14:creationId xmlns:p14="http://schemas.microsoft.com/office/powerpoint/2010/main" val="34326163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0EA233-5DB7-0DC4-DA33-9AC0DF11A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4468B236-7711-E4C5-E17A-E662A7A37F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1337694"/>
              </p:ext>
            </p:extLst>
          </p:nvPr>
        </p:nvGraphicFramePr>
        <p:xfrm>
          <a:off x="1294410" y="81941"/>
          <a:ext cx="7920840" cy="6545047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330037">
                  <a:extLst>
                    <a:ext uri="{9D8B030D-6E8A-4147-A177-3AD203B41FA5}">
                      <a16:colId xmlns:a16="http://schemas.microsoft.com/office/drawing/2014/main" val="3620295702"/>
                    </a:ext>
                  </a:extLst>
                </a:gridCol>
                <a:gridCol w="3099459">
                  <a:extLst>
                    <a:ext uri="{9D8B030D-6E8A-4147-A177-3AD203B41FA5}">
                      <a16:colId xmlns:a16="http://schemas.microsoft.com/office/drawing/2014/main" val="2677427579"/>
                    </a:ext>
                  </a:extLst>
                </a:gridCol>
                <a:gridCol w="3491344">
                  <a:extLst>
                    <a:ext uri="{9D8B030D-6E8A-4147-A177-3AD203B41FA5}">
                      <a16:colId xmlns:a16="http://schemas.microsoft.com/office/drawing/2014/main" val="2719404620"/>
                    </a:ext>
                  </a:extLst>
                </a:gridCol>
              </a:tblGrid>
              <a:tr h="132083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 b="1">
                          <a:effectLst/>
                        </a:rPr>
                        <a:t>对比维度</a:t>
                      </a:r>
                    </a:p>
                  </a:txBody>
                  <a:tcPr marL="22201" marR="22201" marT="11100" marB="111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>
                          <a:effectLst/>
                        </a:rPr>
                        <a:t>laionCLAP</a:t>
                      </a:r>
                    </a:p>
                  </a:txBody>
                  <a:tcPr marL="22201" marR="22201" marT="11100" marB="111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>
                          <a:effectLst/>
                        </a:rPr>
                        <a:t>M2D-CLAP</a:t>
                      </a:r>
                    </a:p>
                  </a:txBody>
                  <a:tcPr marL="22201" marR="22201" marT="11100" marB="11100" anchor="ctr"/>
                </a:tc>
                <a:extLst>
                  <a:ext uri="{0D108BD9-81ED-4DB2-BD59-A6C34878D82A}">
                    <a16:rowId xmlns:a16="http://schemas.microsoft.com/office/drawing/2014/main" val="834661999"/>
                  </a:ext>
                </a:extLst>
              </a:tr>
              <a:tr h="330207">
                <a:tc>
                  <a:txBody>
                    <a:bodyPr/>
                    <a:lstStyle/>
                    <a:p>
                      <a:r>
                        <a:rPr lang="zh-CN" altLang="en-US" sz="1200" b="1">
                          <a:effectLst/>
                        </a:rPr>
                        <a:t>核心理念</a:t>
                      </a:r>
                      <a:endParaRPr lang="zh-CN" altLang="en-US" sz="1200" b="0">
                        <a:effectLst/>
                      </a:endParaRPr>
                    </a:p>
                  </a:txBody>
                  <a:tcPr marL="22201" marR="22201" marT="11100" marB="11100" anchor="ctr"/>
                </a:tc>
                <a:tc>
                  <a:txBody>
                    <a:bodyPr/>
                    <a:lstStyle/>
                    <a:p>
                      <a:r>
                        <a:rPr lang="zh-CN" altLang="en-US" sz="1200" b="0">
                          <a:effectLst/>
                        </a:rPr>
                        <a:t>纯对比学习的音频</a:t>
                      </a:r>
                      <a:r>
                        <a:rPr lang="en-US" altLang="zh-CN" sz="1200" b="0">
                          <a:effectLst/>
                        </a:rPr>
                        <a:t>-</a:t>
                      </a:r>
                      <a:r>
                        <a:rPr lang="zh-CN" altLang="en-US" sz="1200" b="0">
                          <a:effectLst/>
                        </a:rPr>
                        <a:t>语言预训练</a:t>
                      </a:r>
                    </a:p>
                  </a:txBody>
                  <a:tcPr marL="22201" marR="22201" marT="11100" marB="11100" anchor="ctr"/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effectLst/>
                        </a:rPr>
                        <a:t>SSL</a:t>
                      </a:r>
                      <a:r>
                        <a:rPr lang="zh-CN" altLang="en-US" sz="1200" b="0">
                          <a:effectLst/>
                        </a:rPr>
                        <a:t>自监督学习 </a:t>
                      </a:r>
                      <a:r>
                        <a:rPr lang="en-US" altLang="zh-CN" sz="1200" b="0">
                          <a:effectLst/>
                        </a:rPr>
                        <a:t>+ </a:t>
                      </a:r>
                      <a:r>
                        <a:rPr lang="en-US" sz="1200" b="0">
                          <a:effectLst/>
                        </a:rPr>
                        <a:t>CLAP</a:t>
                      </a:r>
                      <a:r>
                        <a:rPr lang="zh-CN" altLang="en-US" sz="1200" b="0">
                          <a:effectLst/>
                        </a:rPr>
                        <a:t>的多任务联合训练</a:t>
                      </a:r>
                    </a:p>
                  </a:txBody>
                  <a:tcPr marL="22201" marR="22201" marT="11100" marB="11100" anchor="ctr"/>
                </a:tc>
                <a:extLst>
                  <a:ext uri="{0D108BD9-81ED-4DB2-BD59-A6C34878D82A}">
                    <a16:rowId xmlns:a16="http://schemas.microsoft.com/office/drawing/2014/main" val="2150095860"/>
                  </a:ext>
                </a:extLst>
              </a:tr>
              <a:tr h="627392">
                <a:tc>
                  <a:txBody>
                    <a:bodyPr/>
                    <a:lstStyle/>
                    <a:p>
                      <a:r>
                        <a:rPr lang="zh-CN" altLang="en-US" sz="1200" b="1">
                          <a:effectLst/>
                        </a:rPr>
                        <a:t>数据规模策略</a:t>
                      </a:r>
                      <a:endParaRPr lang="zh-CN" altLang="en-US" sz="1200" b="0">
                        <a:effectLst/>
                      </a:endParaRPr>
                    </a:p>
                  </a:txBody>
                  <a:tcPr marL="22201" marR="22201" marT="11100" marB="11100" anchor="ctr"/>
                </a:tc>
                <a:tc>
                  <a:txBody>
                    <a:bodyPr/>
                    <a:lstStyle/>
                    <a:p>
                      <a:r>
                        <a:rPr lang="zh-CN" altLang="en-US" sz="1200" b="0">
                          <a:effectLst/>
                        </a:rPr>
                        <a:t>大规模</a:t>
                      </a:r>
                      <a:r>
                        <a:rPr lang="en-US" sz="1200" b="0">
                          <a:effectLst/>
                        </a:rPr>
                        <a:t>LAION-Audio-630K (63</a:t>
                      </a:r>
                      <a:r>
                        <a:rPr lang="zh-CN" altLang="en-US" sz="1200" b="0">
                          <a:effectLst/>
                        </a:rPr>
                        <a:t>万对</a:t>
                      </a:r>
                      <a:r>
                        <a:rPr lang="en-US" altLang="zh-CN" sz="1200" b="0">
                          <a:effectLst/>
                        </a:rPr>
                        <a:t>) + </a:t>
                      </a:r>
                      <a:r>
                        <a:rPr lang="en-US" sz="1200" b="0">
                          <a:effectLst/>
                        </a:rPr>
                        <a:t>AudioSet K2C</a:t>
                      </a:r>
                      <a:r>
                        <a:rPr lang="zh-CN" altLang="en-US" sz="1200" b="0">
                          <a:effectLst/>
                        </a:rPr>
                        <a:t>增强</a:t>
                      </a:r>
                    </a:p>
                  </a:txBody>
                  <a:tcPr marL="22201" marR="22201" marT="11100" marB="11100" anchor="ctr"/>
                </a:tc>
                <a:tc>
                  <a:txBody>
                    <a:bodyPr/>
                    <a:lstStyle/>
                    <a:p>
                      <a:r>
                        <a:rPr lang="zh-CN" altLang="en-US" sz="1200" b="0">
                          <a:effectLst/>
                        </a:rPr>
                        <a:t>分阶段数据集：</a:t>
                      </a:r>
                      <a:r>
                        <a:rPr lang="en-US" sz="1200" b="0">
                          <a:effectLst/>
                        </a:rPr>
                        <a:t>AudioSet+VGGSound+WavCaps (253</a:t>
                      </a:r>
                      <a:r>
                        <a:rPr lang="zh-CN" altLang="en-US" sz="1200" b="0">
                          <a:effectLst/>
                        </a:rPr>
                        <a:t>万</a:t>
                      </a:r>
                      <a:r>
                        <a:rPr lang="en-US" altLang="zh-CN" sz="1200" b="0">
                          <a:effectLst/>
                        </a:rPr>
                        <a:t>) → </a:t>
                      </a:r>
                      <a:r>
                        <a:rPr lang="zh-CN" altLang="en-US" sz="1200" b="0">
                          <a:effectLst/>
                        </a:rPr>
                        <a:t>最终在小规模精选集上微调</a:t>
                      </a:r>
                    </a:p>
                  </a:txBody>
                  <a:tcPr marL="22201" marR="22201" marT="11100" marB="11100" anchor="ctr"/>
                </a:tc>
                <a:extLst>
                  <a:ext uri="{0D108BD9-81ED-4DB2-BD59-A6C34878D82A}">
                    <a16:rowId xmlns:a16="http://schemas.microsoft.com/office/drawing/2014/main" val="4094078392"/>
                  </a:ext>
                </a:extLst>
              </a:tr>
              <a:tr h="429268">
                <a:tc>
                  <a:txBody>
                    <a:bodyPr/>
                    <a:lstStyle/>
                    <a:p>
                      <a:r>
                        <a:rPr lang="zh-CN" altLang="en-US" sz="1200" b="1">
                          <a:effectLst/>
                        </a:rPr>
                        <a:t>音频编码器</a:t>
                      </a:r>
                      <a:endParaRPr lang="zh-CN" altLang="en-US" sz="1200" b="0">
                        <a:effectLst/>
                      </a:endParaRPr>
                    </a:p>
                  </a:txBody>
                  <a:tcPr marL="22201" marR="22201" marT="11100" marB="11100" anchor="ctr"/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effectLst/>
                        </a:rPr>
                        <a:t>HTSAT (Transformer) </a:t>
                      </a:r>
                      <a:r>
                        <a:rPr lang="zh-CN" altLang="en-US" sz="1200" b="0">
                          <a:effectLst/>
                        </a:rPr>
                        <a:t>或 </a:t>
                      </a:r>
                      <a:r>
                        <a:rPr lang="en-US" sz="1200" b="0">
                          <a:effectLst/>
                        </a:rPr>
                        <a:t>PANN (CNN)</a:t>
                      </a:r>
                    </a:p>
                  </a:txBody>
                  <a:tcPr marL="22201" marR="22201" marT="11100" marB="11100" anchor="ctr"/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effectLst/>
                        </a:rPr>
                        <a:t>ViT-Base + M2D</a:t>
                      </a:r>
                      <a:r>
                        <a:rPr lang="zh-CN" altLang="en-US" sz="1200" b="0">
                          <a:effectLst/>
                        </a:rPr>
                        <a:t>掩码建模预训练</a:t>
                      </a:r>
                    </a:p>
                  </a:txBody>
                  <a:tcPr marL="22201" marR="22201" marT="11100" marB="11100" anchor="ctr"/>
                </a:tc>
                <a:extLst>
                  <a:ext uri="{0D108BD9-81ED-4DB2-BD59-A6C34878D82A}">
                    <a16:rowId xmlns:a16="http://schemas.microsoft.com/office/drawing/2014/main" val="2255654767"/>
                  </a:ext>
                </a:extLst>
              </a:tr>
              <a:tr h="627392">
                <a:tc>
                  <a:txBody>
                    <a:bodyPr/>
                    <a:lstStyle/>
                    <a:p>
                      <a:r>
                        <a:rPr lang="zh-CN" altLang="en-US" sz="1200" b="1">
                          <a:effectLst/>
                        </a:rPr>
                        <a:t>文本编码器</a:t>
                      </a:r>
                      <a:endParaRPr lang="zh-CN" altLang="en-US" sz="1200" b="0">
                        <a:effectLst/>
                      </a:endParaRPr>
                    </a:p>
                  </a:txBody>
                  <a:tcPr marL="22201" marR="22201" marT="11100" marB="11100" anchor="ctr"/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effectLst/>
                        </a:rPr>
                        <a:t>BERT/RoBERTa (</a:t>
                      </a:r>
                      <a:r>
                        <a:rPr lang="zh-CN" altLang="en-US" sz="1200" b="0">
                          <a:effectLst/>
                        </a:rPr>
                        <a:t>固定容量</a:t>
                      </a:r>
                      <a:r>
                        <a:rPr lang="en-US" altLang="zh-CN" sz="1200" b="0">
                          <a:effectLst/>
                        </a:rPr>
                        <a:t>)</a:t>
                      </a:r>
                    </a:p>
                  </a:txBody>
                  <a:tcPr marL="22201" marR="22201" marT="11100" marB="11100" anchor="ctr"/>
                </a:tc>
                <a:tc>
                  <a:txBody>
                    <a:bodyPr/>
                    <a:lstStyle/>
                    <a:p>
                      <a:r>
                        <a:rPr lang="zh-CN" altLang="en-US" sz="1200" b="0">
                          <a:effectLst/>
                        </a:rPr>
                        <a:t>阶段</a:t>
                      </a:r>
                      <a:r>
                        <a:rPr lang="en-US" altLang="zh-CN" sz="1200" b="0">
                          <a:effectLst/>
                        </a:rPr>
                        <a:t>1</a:t>
                      </a:r>
                      <a:r>
                        <a:rPr lang="zh-CN" altLang="en-US" sz="1200" b="0">
                          <a:effectLst/>
                        </a:rPr>
                        <a:t>：大型</a:t>
                      </a:r>
                      <a:r>
                        <a:rPr lang="en-US" sz="1200" b="0">
                          <a:effectLst/>
                        </a:rPr>
                        <a:t>LLM</a:t>
                      </a:r>
                      <a:r>
                        <a:rPr lang="zh-CN" altLang="en-US" sz="1200" b="0">
                          <a:effectLst/>
                        </a:rPr>
                        <a:t>句子嵌入模型 </a:t>
                      </a:r>
                      <a:r>
                        <a:rPr lang="en-US" altLang="zh-CN" sz="1200" b="0">
                          <a:effectLst/>
                        </a:rPr>
                        <a:t>(</a:t>
                      </a:r>
                      <a:r>
                        <a:rPr lang="en-US" sz="1200" b="0">
                          <a:effectLst/>
                        </a:rPr>
                        <a:t>NV-Embed-v2, 78</a:t>
                      </a:r>
                      <a:r>
                        <a:rPr lang="zh-CN" altLang="en-US" sz="1200" b="0">
                          <a:effectLst/>
                        </a:rPr>
                        <a:t>亿参数</a:t>
                      </a:r>
                      <a:r>
                        <a:rPr lang="en-US" altLang="zh-CN" sz="1200" b="0">
                          <a:effectLst/>
                        </a:rPr>
                        <a:t>) → </a:t>
                      </a:r>
                      <a:r>
                        <a:rPr lang="zh-CN" altLang="en-US" sz="1200" b="0">
                          <a:effectLst/>
                        </a:rPr>
                        <a:t>阶段</a:t>
                      </a:r>
                      <a:r>
                        <a:rPr lang="en-US" altLang="zh-CN" sz="1200" b="0">
                          <a:effectLst/>
                        </a:rPr>
                        <a:t>2</a:t>
                      </a:r>
                      <a:r>
                        <a:rPr lang="zh-CN" altLang="en-US" sz="1200" b="0">
                          <a:effectLst/>
                        </a:rPr>
                        <a:t>：小型</a:t>
                      </a:r>
                      <a:r>
                        <a:rPr lang="en-US" sz="1200" b="0">
                          <a:effectLst/>
                        </a:rPr>
                        <a:t>BERT</a:t>
                      </a:r>
                    </a:p>
                  </a:txBody>
                  <a:tcPr marL="22201" marR="22201" marT="11100" marB="11100" anchor="ctr"/>
                </a:tc>
                <a:extLst>
                  <a:ext uri="{0D108BD9-81ED-4DB2-BD59-A6C34878D82A}">
                    <a16:rowId xmlns:a16="http://schemas.microsoft.com/office/drawing/2014/main" val="187401744"/>
                  </a:ext>
                </a:extLst>
              </a:tr>
              <a:tr h="528331">
                <a:tc>
                  <a:txBody>
                    <a:bodyPr/>
                    <a:lstStyle/>
                    <a:p>
                      <a:r>
                        <a:rPr lang="zh-CN" altLang="en-US" sz="1200" b="1">
                          <a:effectLst/>
                        </a:rPr>
                        <a:t>投影头设计</a:t>
                      </a:r>
                      <a:endParaRPr lang="zh-CN" altLang="en-US" sz="1200" b="0">
                        <a:effectLst/>
                      </a:endParaRPr>
                    </a:p>
                  </a:txBody>
                  <a:tcPr marL="22201" marR="22201" marT="11100" marB="11100" anchor="ctr"/>
                </a:tc>
                <a:tc>
                  <a:txBody>
                    <a:bodyPr/>
                    <a:lstStyle/>
                    <a:p>
                      <a:r>
                        <a:rPr lang="zh-CN" altLang="en-US" sz="1200" b="0">
                          <a:effectLst/>
                        </a:rPr>
                        <a:t>音频和文本双投影头 </a:t>
                      </a:r>
                      <a:r>
                        <a:rPr lang="en-US" altLang="zh-CN" sz="1200" b="0">
                          <a:effectLst/>
                        </a:rPr>
                        <a:t>(2</a:t>
                      </a:r>
                      <a:r>
                        <a:rPr lang="zh-CN" altLang="en-US" sz="1200" b="0">
                          <a:effectLst/>
                        </a:rPr>
                        <a:t>层</a:t>
                      </a:r>
                      <a:r>
                        <a:rPr lang="en-US" sz="1200" b="0">
                          <a:effectLst/>
                        </a:rPr>
                        <a:t>MLP → 512</a:t>
                      </a:r>
                      <a:r>
                        <a:rPr lang="zh-CN" altLang="en-US" sz="1200" b="0">
                          <a:effectLst/>
                        </a:rPr>
                        <a:t>维</a:t>
                      </a:r>
                      <a:r>
                        <a:rPr lang="en-US" altLang="zh-CN" sz="1200" b="0">
                          <a:effectLst/>
                        </a:rPr>
                        <a:t>)</a:t>
                      </a:r>
                    </a:p>
                  </a:txBody>
                  <a:tcPr marL="22201" marR="22201" marT="11100" marB="11100" anchor="ctr"/>
                </a:tc>
                <a:tc>
                  <a:txBody>
                    <a:bodyPr/>
                    <a:lstStyle/>
                    <a:p>
                      <a:r>
                        <a:rPr lang="zh-CN" altLang="en-US" sz="1200" b="0">
                          <a:effectLst/>
                        </a:rPr>
                        <a:t>仅音频投影头 </a:t>
                      </a:r>
                      <a:r>
                        <a:rPr lang="en-US" altLang="zh-CN" sz="1200" b="0">
                          <a:effectLst/>
                        </a:rPr>
                        <a:t>(1</a:t>
                      </a:r>
                      <a:r>
                        <a:rPr lang="zh-CN" altLang="en-US" sz="1200" b="0">
                          <a:effectLst/>
                        </a:rPr>
                        <a:t>层</a:t>
                      </a:r>
                      <a:r>
                        <a:rPr lang="en-US" sz="1200" b="0">
                          <a:effectLst/>
                        </a:rPr>
                        <a:t>Transformer + </a:t>
                      </a:r>
                      <a:r>
                        <a:rPr lang="zh-CN" altLang="en-US" sz="1200" b="0">
                          <a:effectLst/>
                        </a:rPr>
                        <a:t>类别</a:t>
                      </a:r>
                      <a:r>
                        <a:rPr lang="en-US" sz="1200" b="0">
                          <a:effectLst/>
                        </a:rPr>
                        <a:t>token → 768</a:t>
                      </a:r>
                      <a:r>
                        <a:rPr lang="zh-CN" altLang="en-US" sz="1200" b="0">
                          <a:effectLst/>
                        </a:rPr>
                        <a:t>维</a:t>
                      </a:r>
                      <a:r>
                        <a:rPr lang="en-US" altLang="zh-CN" sz="1200" b="0">
                          <a:effectLst/>
                        </a:rPr>
                        <a:t>)</a:t>
                      </a:r>
                    </a:p>
                  </a:txBody>
                  <a:tcPr marL="22201" marR="22201" marT="11100" marB="11100" anchor="ctr"/>
                </a:tc>
                <a:extLst>
                  <a:ext uri="{0D108BD9-81ED-4DB2-BD59-A6C34878D82A}">
                    <a16:rowId xmlns:a16="http://schemas.microsoft.com/office/drawing/2014/main" val="354566176"/>
                  </a:ext>
                </a:extLst>
              </a:tr>
              <a:tr h="330207">
                <a:tc>
                  <a:txBody>
                    <a:bodyPr/>
                    <a:lstStyle/>
                    <a:p>
                      <a:r>
                        <a:rPr lang="zh-CN" altLang="en-US" sz="1200" b="1">
                          <a:effectLst/>
                        </a:rPr>
                        <a:t>变长音频处理</a:t>
                      </a:r>
                      <a:endParaRPr lang="zh-CN" altLang="en-US" sz="1200" b="0">
                        <a:effectLst/>
                      </a:endParaRPr>
                    </a:p>
                  </a:txBody>
                  <a:tcPr marL="22201" marR="22201" marT="11100" marB="11100" anchor="ctr"/>
                </a:tc>
                <a:tc>
                  <a:txBody>
                    <a:bodyPr/>
                    <a:lstStyle/>
                    <a:p>
                      <a:r>
                        <a:rPr lang="zh-CN" altLang="en-US" sz="1200" b="0">
                          <a:effectLst/>
                        </a:rPr>
                        <a:t>创新的全局</a:t>
                      </a:r>
                      <a:r>
                        <a:rPr lang="en-US" altLang="zh-CN" sz="1200" b="0">
                          <a:effectLst/>
                        </a:rPr>
                        <a:t>-</a:t>
                      </a:r>
                      <a:r>
                        <a:rPr lang="zh-CN" altLang="en-US" sz="1200" b="0">
                          <a:effectLst/>
                        </a:rPr>
                        <a:t>局部特征融合 </a:t>
                      </a:r>
                      <a:r>
                        <a:rPr lang="en-US" altLang="zh-CN" sz="1200" b="0">
                          <a:effectLst/>
                        </a:rPr>
                        <a:t>(</a:t>
                      </a:r>
                      <a:r>
                        <a:rPr lang="en-US" sz="1200" b="0">
                          <a:effectLst/>
                        </a:rPr>
                        <a:t>AFF)</a:t>
                      </a:r>
                    </a:p>
                  </a:txBody>
                  <a:tcPr marL="22201" marR="22201" marT="11100" marB="11100" anchor="ctr"/>
                </a:tc>
                <a:tc>
                  <a:txBody>
                    <a:bodyPr/>
                    <a:lstStyle/>
                    <a:p>
                      <a:r>
                        <a:rPr lang="zh-CN" altLang="en-US" sz="1200" b="0">
                          <a:effectLst/>
                        </a:rPr>
                        <a:t>固定时长截取 </a:t>
                      </a:r>
                      <a:r>
                        <a:rPr lang="en-US" altLang="zh-CN" sz="1200" b="0">
                          <a:effectLst/>
                        </a:rPr>
                        <a:t>(6</a:t>
                      </a:r>
                      <a:r>
                        <a:rPr lang="en-US" sz="1200" b="0">
                          <a:effectLst/>
                        </a:rPr>
                        <a:t>s/10s) + </a:t>
                      </a:r>
                      <a:r>
                        <a:rPr lang="zh-CN" altLang="en-US" sz="1200" b="0">
                          <a:effectLst/>
                        </a:rPr>
                        <a:t>位置编码插值</a:t>
                      </a:r>
                    </a:p>
                  </a:txBody>
                  <a:tcPr marL="22201" marR="22201" marT="11100" marB="11100" anchor="ctr"/>
                </a:tc>
                <a:extLst>
                  <a:ext uri="{0D108BD9-81ED-4DB2-BD59-A6C34878D82A}">
                    <a16:rowId xmlns:a16="http://schemas.microsoft.com/office/drawing/2014/main" val="3360786468"/>
                  </a:ext>
                </a:extLst>
              </a:tr>
              <a:tr h="627392">
                <a:tc>
                  <a:txBody>
                    <a:bodyPr/>
                    <a:lstStyle/>
                    <a:p>
                      <a:r>
                        <a:rPr lang="zh-CN" altLang="en-US" sz="1200" b="1">
                          <a:effectLst/>
                        </a:rPr>
                        <a:t>训练阶段</a:t>
                      </a:r>
                      <a:endParaRPr lang="zh-CN" altLang="en-US" sz="1200" b="0">
                        <a:effectLst/>
                      </a:endParaRPr>
                    </a:p>
                  </a:txBody>
                  <a:tcPr marL="22201" marR="22201" marT="11100" marB="11100" anchor="ctr"/>
                </a:tc>
                <a:tc>
                  <a:txBody>
                    <a:bodyPr/>
                    <a:lstStyle/>
                    <a:p>
                      <a:r>
                        <a:rPr lang="zh-CN" altLang="en-US" sz="1200" b="0">
                          <a:effectLst/>
                        </a:rPr>
                        <a:t>单阶段端到端训练</a:t>
                      </a:r>
                    </a:p>
                  </a:txBody>
                  <a:tcPr marL="22201" marR="22201" marT="11100" marB="11100" anchor="ctr"/>
                </a:tc>
                <a:tc>
                  <a:txBody>
                    <a:bodyPr/>
                    <a:lstStyle/>
                    <a:p>
                      <a:r>
                        <a:rPr lang="zh-CN" altLang="en-US" sz="1200" b="0">
                          <a:effectLst/>
                        </a:rPr>
                        <a:t>多阶段：</a:t>
                      </a:r>
                      <a:r>
                        <a:rPr lang="en-US" sz="1200" b="0">
                          <a:effectLst/>
                        </a:rPr>
                        <a:t>SSL+CLAP → </a:t>
                      </a:r>
                      <a:r>
                        <a:rPr lang="zh-CN" altLang="en-US" sz="1200" b="0">
                          <a:effectLst/>
                        </a:rPr>
                        <a:t>纯</a:t>
                      </a:r>
                      <a:r>
                        <a:rPr lang="en-US" sz="1200" b="0">
                          <a:effectLst/>
                        </a:rPr>
                        <a:t>CLAP → AudioSet</a:t>
                      </a:r>
                      <a:r>
                        <a:rPr lang="zh-CN" altLang="en-US" sz="1200" b="0">
                          <a:effectLst/>
                        </a:rPr>
                        <a:t>微调 → </a:t>
                      </a:r>
                      <a:r>
                        <a:rPr lang="en-US" sz="1200" b="0">
                          <a:effectLst/>
                        </a:rPr>
                        <a:t>WavCaps</a:t>
                      </a:r>
                      <a:r>
                        <a:rPr lang="zh-CN" altLang="en-US" sz="1200" b="0">
                          <a:effectLst/>
                        </a:rPr>
                        <a:t>微调</a:t>
                      </a:r>
                    </a:p>
                  </a:txBody>
                  <a:tcPr marL="22201" marR="22201" marT="11100" marB="11100" anchor="ctr"/>
                </a:tc>
                <a:extLst>
                  <a:ext uri="{0D108BD9-81ED-4DB2-BD59-A6C34878D82A}">
                    <a16:rowId xmlns:a16="http://schemas.microsoft.com/office/drawing/2014/main" val="3394671020"/>
                  </a:ext>
                </a:extLst>
              </a:tr>
              <a:tr h="528331">
                <a:tc>
                  <a:txBody>
                    <a:bodyPr/>
                    <a:lstStyle/>
                    <a:p>
                      <a:r>
                        <a:rPr lang="zh-CN" altLang="en-US" sz="1200" b="1">
                          <a:effectLst/>
                        </a:rPr>
                        <a:t>损失函数</a:t>
                      </a:r>
                      <a:endParaRPr lang="zh-CN" altLang="en-US" sz="1200" b="0">
                        <a:effectLst/>
                      </a:endParaRPr>
                    </a:p>
                  </a:txBody>
                  <a:tcPr marL="22201" marR="22201" marT="11100" marB="11100" anchor="ctr"/>
                </a:tc>
                <a:tc>
                  <a:txBody>
                    <a:bodyPr/>
                    <a:lstStyle/>
                    <a:p>
                      <a:r>
                        <a:rPr lang="zh-CN" altLang="en-US" sz="1200" b="0">
                          <a:effectLst/>
                        </a:rPr>
                        <a:t>对称对比损失 </a:t>
                      </a:r>
                      <a:r>
                        <a:rPr lang="en-US" altLang="zh-CN" sz="1200" b="0">
                          <a:effectLst/>
                        </a:rPr>
                        <a:t>(</a:t>
                      </a:r>
                      <a:r>
                        <a:rPr lang="en-US" sz="1200" b="0">
                          <a:effectLst/>
                        </a:rPr>
                        <a:t>NT-Xent)</a:t>
                      </a:r>
                    </a:p>
                  </a:txBody>
                  <a:tcPr marL="22201" marR="22201" marT="11100" marB="11100" anchor="ctr"/>
                </a:tc>
                <a:tc>
                  <a:txBody>
                    <a:bodyPr/>
                    <a:lstStyle/>
                    <a:p>
                      <a:r>
                        <a:rPr lang="zh-CN" altLang="en-US" sz="1200" b="0">
                          <a:effectLst/>
                        </a:rPr>
                        <a:t>阶段</a:t>
                      </a:r>
                      <a:r>
                        <a:rPr lang="en-US" altLang="zh-CN" sz="1200" b="0">
                          <a:effectLst/>
                        </a:rPr>
                        <a:t>1</a:t>
                      </a:r>
                      <a:r>
                        <a:rPr lang="zh-CN" altLang="en-US" sz="1200" b="0">
                          <a:effectLst/>
                        </a:rPr>
                        <a:t>：</a:t>
                      </a:r>
                      <a:r>
                        <a:rPr lang="en-US" sz="1200" b="0">
                          <a:effectLst/>
                        </a:rPr>
                        <a:t>M2D</a:t>
                      </a:r>
                      <a:r>
                        <a:rPr lang="zh-CN" altLang="en-US" sz="1200" b="0">
                          <a:effectLst/>
                        </a:rPr>
                        <a:t>掩码预测 </a:t>
                      </a:r>
                      <a:r>
                        <a:rPr lang="en-US" altLang="zh-CN" sz="1200" b="0">
                          <a:effectLst/>
                        </a:rPr>
                        <a:t>+ </a:t>
                      </a:r>
                      <a:r>
                        <a:rPr lang="zh-CN" altLang="en-US" sz="1200" b="0">
                          <a:effectLst/>
                        </a:rPr>
                        <a:t>轻量</a:t>
                      </a:r>
                      <a:r>
                        <a:rPr lang="en-US" sz="1200" b="0">
                          <a:effectLst/>
                        </a:rPr>
                        <a:t>CLAP (</a:t>
                      </a:r>
                      <a:r>
                        <a:rPr lang="el-GR" sz="1200" b="0">
                          <a:effectLst/>
                        </a:rPr>
                        <a:t>λ=0.01) → </a:t>
                      </a:r>
                      <a:r>
                        <a:rPr lang="zh-CN" altLang="en-US" sz="1200" b="0">
                          <a:effectLst/>
                        </a:rPr>
                        <a:t>阶段</a:t>
                      </a:r>
                      <a:r>
                        <a:rPr lang="en-US" altLang="zh-CN" sz="1200" b="0">
                          <a:effectLst/>
                        </a:rPr>
                        <a:t>2</a:t>
                      </a:r>
                      <a:r>
                        <a:rPr lang="zh-CN" altLang="en-US" sz="1200" b="0">
                          <a:effectLst/>
                        </a:rPr>
                        <a:t>：纯</a:t>
                      </a:r>
                      <a:r>
                        <a:rPr lang="en-US" sz="1200" b="0">
                          <a:effectLst/>
                        </a:rPr>
                        <a:t>CLAP</a:t>
                      </a:r>
                    </a:p>
                  </a:txBody>
                  <a:tcPr marL="22201" marR="22201" marT="11100" marB="11100" anchor="ctr"/>
                </a:tc>
                <a:extLst>
                  <a:ext uri="{0D108BD9-81ED-4DB2-BD59-A6C34878D82A}">
                    <a16:rowId xmlns:a16="http://schemas.microsoft.com/office/drawing/2014/main" val="1753514280"/>
                  </a:ext>
                </a:extLst>
              </a:tr>
              <a:tr h="330207">
                <a:tc>
                  <a:txBody>
                    <a:bodyPr/>
                    <a:lstStyle/>
                    <a:p>
                      <a:r>
                        <a:rPr lang="zh-CN" altLang="en-US" sz="1200" b="1">
                          <a:effectLst/>
                        </a:rPr>
                        <a:t>批量大小</a:t>
                      </a:r>
                      <a:endParaRPr lang="zh-CN" altLang="en-US" sz="1200" b="0">
                        <a:effectLst/>
                      </a:endParaRPr>
                    </a:p>
                  </a:txBody>
                  <a:tcPr marL="22201" marR="22201" marT="11100" marB="11100" anchor="ctr"/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effectLst/>
                        </a:rPr>
                        <a:t>768-4608 (</a:t>
                      </a:r>
                      <a:r>
                        <a:rPr lang="zh-CN" altLang="en-US" sz="1200" b="0">
                          <a:effectLst/>
                        </a:rPr>
                        <a:t>多</a:t>
                      </a:r>
                      <a:r>
                        <a:rPr lang="en-US" sz="1200" b="0">
                          <a:effectLst/>
                        </a:rPr>
                        <a:t>GPU</a:t>
                      </a:r>
                      <a:r>
                        <a:rPr lang="zh-CN" altLang="en-US" sz="1200" b="0">
                          <a:effectLst/>
                        </a:rPr>
                        <a:t>集群</a:t>
                      </a:r>
                      <a:r>
                        <a:rPr lang="en-US" altLang="zh-CN" sz="1200" b="0">
                          <a:effectLst/>
                        </a:rPr>
                        <a:t>)</a:t>
                      </a:r>
                    </a:p>
                  </a:txBody>
                  <a:tcPr marL="22201" marR="22201" marT="11100" marB="11100" anchor="ctr"/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effectLst/>
                        </a:rPr>
                        <a:t>2048 (4×A100, </a:t>
                      </a:r>
                      <a:r>
                        <a:rPr lang="zh-CN" altLang="en-US" sz="1200" b="0">
                          <a:effectLst/>
                        </a:rPr>
                        <a:t>通过离线文本嵌入节省内存</a:t>
                      </a:r>
                      <a:r>
                        <a:rPr lang="en-US" altLang="zh-CN" sz="1200" b="0">
                          <a:effectLst/>
                        </a:rPr>
                        <a:t>)</a:t>
                      </a:r>
                    </a:p>
                  </a:txBody>
                  <a:tcPr marL="22201" marR="22201" marT="11100" marB="11100" anchor="ctr"/>
                </a:tc>
                <a:extLst>
                  <a:ext uri="{0D108BD9-81ED-4DB2-BD59-A6C34878D82A}">
                    <a16:rowId xmlns:a16="http://schemas.microsoft.com/office/drawing/2014/main" val="1744821778"/>
                  </a:ext>
                </a:extLst>
              </a:tr>
              <a:tr h="330207">
                <a:tc>
                  <a:txBody>
                    <a:bodyPr/>
                    <a:lstStyle/>
                    <a:p>
                      <a:r>
                        <a:rPr lang="zh-CN" altLang="en-US" sz="1200" b="1">
                          <a:effectLst/>
                        </a:rPr>
                        <a:t>标签到文本增强</a:t>
                      </a:r>
                      <a:endParaRPr lang="zh-CN" altLang="en-US" sz="1200" b="0">
                        <a:effectLst/>
                      </a:endParaRPr>
                    </a:p>
                  </a:txBody>
                  <a:tcPr marL="22201" marR="22201" marT="11100" marB="11100" anchor="ctr"/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effectLst/>
                        </a:rPr>
                        <a:t>T5</a:t>
                      </a:r>
                      <a:r>
                        <a:rPr lang="zh-CN" altLang="en-US" sz="1200" b="0">
                          <a:effectLst/>
                        </a:rPr>
                        <a:t>模型生成的关键词到标题 </a:t>
                      </a:r>
                      <a:r>
                        <a:rPr lang="en-US" altLang="zh-CN" sz="1200" b="0">
                          <a:effectLst/>
                        </a:rPr>
                        <a:t>(</a:t>
                      </a:r>
                      <a:r>
                        <a:rPr lang="en-US" sz="1200" b="0">
                          <a:effectLst/>
                        </a:rPr>
                        <a:t>K2C)</a:t>
                      </a:r>
                    </a:p>
                  </a:txBody>
                  <a:tcPr marL="22201" marR="22201" marT="11100" marB="11100" anchor="ctr"/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effectLst/>
                        </a:rPr>
                        <a:t>Auto-ACD</a:t>
                      </a:r>
                      <a:r>
                        <a:rPr lang="zh-CN" altLang="en-US" sz="1200" b="0">
                          <a:effectLst/>
                        </a:rPr>
                        <a:t>生成 </a:t>
                      </a:r>
                      <a:r>
                        <a:rPr lang="en-US" altLang="zh-CN" sz="1200" b="0">
                          <a:effectLst/>
                        </a:rPr>
                        <a:t>+ </a:t>
                      </a:r>
                      <a:r>
                        <a:rPr lang="zh-CN" altLang="en-US" sz="1200" b="0">
                          <a:effectLst/>
                        </a:rPr>
                        <a:t>简单模板填充</a:t>
                      </a:r>
                    </a:p>
                  </a:txBody>
                  <a:tcPr marL="22201" marR="22201" marT="11100" marB="11100" anchor="ctr"/>
                </a:tc>
                <a:extLst>
                  <a:ext uri="{0D108BD9-81ED-4DB2-BD59-A6C34878D82A}">
                    <a16:rowId xmlns:a16="http://schemas.microsoft.com/office/drawing/2014/main" val="71794401"/>
                  </a:ext>
                </a:extLst>
              </a:tr>
              <a:tr h="231144">
                <a:tc>
                  <a:txBody>
                    <a:bodyPr/>
                    <a:lstStyle/>
                    <a:p>
                      <a:r>
                        <a:rPr lang="zh-CN" altLang="en-US" sz="1200" b="1">
                          <a:effectLst/>
                        </a:rPr>
                        <a:t>零样本提示策略</a:t>
                      </a:r>
                      <a:endParaRPr lang="zh-CN" altLang="en-US" sz="1200" b="0">
                        <a:effectLst/>
                      </a:endParaRPr>
                    </a:p>
                  </a:txBody>
                  <a:tcPr marL="22201" marR="22201" marT="11100" marB="11100" anchor="ctr"/>
                </a:tc>
                <a:tc>
                  <a:txBody>
                    <a:bodyPr/>
                    <a:lstStyle/>
                    <a:p>
                      <a:r>
                        <a:rPr lang="zh-CN" altLang="en-US" sz="1200" b="0">
                          <a:effectLst/>
                        </a:rPr>
                        <a:t>丰富的模板策略</a:t>
                      </a:r>
                    </a:p>
                  </a:txBody>
                  <a:tcPr marL="22201" marR="22201" marT="11100" marB="11100" anchor="ctr"/>
                </a:tc>
                <a:tc>
                  <a:txBody>
                    <a:bodyPr/>
                    <a:lstStyle/>
                    <a:p>
                      <a:r>
                        <a:rPr lang="zh-CN" altLang="en-US" sz="1200" b="0">
                          <a:effectLst/>
                        </a:rPr>
                        <a:t>通用</a:t>
                      </a:r>
                      <a:r>
                        <a:rPr lang="en-US" altLang="zh-CN" sz="1200" b="0">
                          <a:effectLst/>
                        </a:rPr>
                        <a:t>"</a:t>
                      </a:r>
                      <a:r>
                        <a:rPr lang="en-US" sz="1200" b="0">
                          <a:effectLst/>
                        </a:rPr>
                        <a:t>X can be heard"</a:t>
                      </a:r>
                      <a:r>
                        <a:rPr lang="zh-CN" altLang="en-US" sz="1200" b="0">
                          <a:effectLst/>
                        </a:rPr>
                        <a:t>模板</a:t>
                      </a:r>
                    </a:p>
                  </a:txBody>
                  <a:tcPr marL="22201" marR="22201" marT="11100" marB="11100" anchor="ctr"/>
                </a:tc>
                <a:extLst>
                  <a:ext uri="{0D108BD9-81ED-4DB2-BD59-A6C34878D82A}">
                    <a16:rowId xmlns:a16="http://schemas.microsoft.com/office/drawing/2014/main" val="2987359469"/>
                  </a:ext>
                </a:extLst>
              </a:tr>
              <a:tr h="429268">
                <a:tc>
                  <a:txBody>
                    <a:bodyPr/>
                    <a:lstStyle/>
                    <a:p>
                      <a:r>
                        <a:rPr lang="zh-CN" altLang="en-US" sz="1200" b="1">
                          <a:effectLst/>
                        </a:rPr>
                        <a:t>评估重点</a:t>
                      </a:r>
                      <a:endParaRPr lang="zh-CN" altLang="en-US" sz="1200" b="0">
                        <a:effectLst/>
                      </a:endParaRPr>
                    </a:p>
                  </a:txBody>
                  <a:tcPr marL="22201" marR="22201" marT="11100" marB="11100" anchor="ctr"/>
                </a:tc>
                <a:tc>
                  <a:txBody>
                    <a:bodyPr/>
                    <a:lstStyle/>
                    <a:p>
                      <a:r>
                        <a:rPr lang="zh-CN" altLang="en-US" sz="1200" b="0">
                          <a:effectLst/>
                        </a:rPr>
                        <a:t>检索 </a:t>
                      </a:r>
                      <a:r>
                        <a:rPr lang="en-US" altLang="zh-CN" sz="1200" b="0">
                          <a:effectLst/>
                        </a:rPr>
                        <a:t>+ </a:t>
                      </a:r>
                      <a:r>
                        <a:rPr lang="zh-CN" altLang="en-US" sz="1200" b="0">
                          <a:effectLst/>
                        </a:rPr>
                        <a:t>零样本分类为主</a:t>
                      </a:r>
                    </a:p>
                  </a:txBody>
                  <a:tcPr marL="22201" marR="22201" marT="11100" marB="11100" anchor="ctr"/>
                </a:tc>
                <a:tc>
                  <a:txBody>
                    <a:bodyPr/>
                    <a:lstStyle/>
                    <a:p>
                      <a:r>
                        <a:rPr lang="zh-CN" altLang="en-US" sz="1200" b="0">
                          <a:effectLst/>
                        </a:rPr>
                        <a:t>全面评估：线性评估、微调、检索、零样本、音频字幕</a:t>
                      </a:r>
                    </a:p>
                  </a:txBody>
                  <a:tcPr marL="22201" marR="22201" marT="11100" marB="11100" anchor="ctr"/>
                </a:tc>
                <a:extLst>
                  <a:ext uri="{0D108BD9-81ED-4DB2-BD59-A6C34878D82A}">
                    <a16:rowId xmlns:a16="http://schemas.microsoft.com/office/drawing/2014/main" val="3609560761"/>
                  </a:ext>
                </a:extLst>
              </a:tr>
              <a:tr h="330207">
                <a:tc>
                  <a:txBody>
                    <a:bodyPr/>
                    <a:lstStyle/>
                    <a:p>
                      <a:r>
                        <a:rPr lang="zh-CN" altLang="en-US" sz="1200" b="1">
                          <a:effectLst/>
                        </a:rPr>
                        <a:t>音频任务泛化</a:t>
                      </a:r>
                      <a:endParaRPr lang="zh-CN" altLang="en-US" sz="1200" b="0">
                        <a:effectLst/>
                      </a:endParaRPr>
                    </a:p>
                  </a:txBody>
                  <a:tcPr marL="22201" marR="22201" marT="11100" marB="11100" anchor="ctr"/>
                </a:tc>
                <a:tc>
                  <a:txBody>
                    <a:bodyPr/>
                    <a:lstStyle/>
                    <a:p>
                      <a:r>
                        <a:rPr lang="zh-CN" altLang="en-US" sz="1200" b="0">
                          <a:effectLst/>
                        </a:rPr>
                        <a:t>在语音和音乐任务上较弱</a:t>
                      </a:r>
                    </a:p>
                  </a:txBody>
                  <a:tcPr marL="22201" marR="22201" marT="11100" marB="11100" anchor="ctr"/>
                </a:tc>
                <a:tc>
                  <a:txBody>
                    <a:bodyPr/>
                    <a:lstStyle/>
                    <a:p>
                      <a:r>
                        <a:rPr lang="zh-CN" altLang="en-US" sz="1200" b="0">
                          <a:effectLst/>
                        </a:rPr>
                        <a:t>通过</a:t>
                      </a:r>
                      <a:r>
                        <a:rPr lang="en-US" sz="1200" b="0">
                          <a:effectLst/>
                        </a:rPr>
                        <a:t>SSL</a:t>
                      </a:r>
                      <a:r>
                        <a:rPr lang="zh-CN" altLang="en-US" sz="1200" b="0">
                          <a:effectLst/>
                        </a:rPr>
                        <a:t>在各类音频任务上表现强劲</a:t>
                      </a:r>
                    </a:p>
                  </a:txBody>
                  <a:tcPr marL="22201" marR="22201" marT="11100" marB="11100" anchor="ctr"/>
                </a:tc>
                <a:extLst>
                  <a:ext uri="{0D108BD9-81ED-4DB2-BD59-A6C34878D82A}">
                    <a16:rowId xmlns:a16="http://schemas.microsoft.com/office/drawing/2014/main" val="2694540108"/>
                  </a:ext>
                </a:extLst>
              </a:tr>
              <a:tr h="330207">
                <a:tc>
                  <a:txBody>
                    <a:bodyPr/>
                    <a:lstStyle/>
                    <a:p>
                      <a:r>
                        <a:rPr lang="zh-CN" altLang="en-US" sz="1200" b="1">
                          <a:effectLst/>
                        </a:rPr>
                        <a:t>计算效率</a:t>
                      </a:r>
                      <a:endParaRPr lang="zh-CN" altLang="en-US" sz="1200" b="0">
                        <a:effectLst/>
                      </a:endParaRPr>
                    </a:p>
                  </a:txBody>
                  <a:tcPr marL="22201" marR="22201" marT="11100" marB="11100" anchor="ctr"/>
                </a:tc>
                <a:tc>
                  <a:txBody>
                    <a:bodyPr/>
                    <a:lstStyle/>
                    <a:p>
                      <a:r>
                        <a:rPr lang="zh-CN" altLang="en-US" sz="1200" b="0">
                          <a:effectLst/>
                        </a:rPr>
                        <a:t>需要大规模</a:t>
                      </a:r>
                      <a:r>
                        <a:rPr lang="en-US" sz="1200" b="0">
                          <a:effectLst/>
                        </a:rPr>
                        <a:t>GPU</a:t>
                      </a:r>
                      <a:r>
                        <a:rPr lang="zh-CN" altLang="en-US" sz="1200" b="0">
                          <a:effectLst/>
                        </a:rPr>
                        <a:t>集群</a:t>
                      </a:r>
                    </a:p>
                  </a:txBody>
                  <a:tcPr marL="22201" marR="22201" marT="11100" marB="11100" anchor="ctr"/>
                </a:tc>
                <a:tc>
                  <a:txBody>
                    <a:bodyPr/>
                    <a:lstStyle/>
                    <a:p>
                      <a:r>
                        <a:rPr lang="zh-CN" altLang="en-US" sz="1200" b="0">
                          <a:effectLst/>
                        </a:rPr>
                        <a:t>通过离线</a:t>
                      </a:r>
                      <a:r>
                        <a:rPr lang="en-US" sz="1200" b="0">
                          <a:effectLst/>
                        </a:rPr>
                        <a:t>LLM</a:t>
                      </a:r>
                      <a:r>
                        <a:rPr lang="zh-CN" altLang="en-US" sz="1200" b="0">
                          <a:effectLst/>
                        </a:rPr>
                        <a:t>嵌入和分阶段训练降低成本</a:t>
                      </a:r>
                    </a:p>
                  </a:txBody>
                  <a:tcPr marL="22201" marR="22201" marT="11100" marB="11100" anchor="ctr"/>
                </a:tc>
                <a:extLst>
                  <a:ext uri="{0D108BD9-81ED-4DB2-BD59-A6C34878D82A}">
                    <a16:rowId xmlns:a16="http://schemas.microsoft.com/office/drawing/2014/main" val="1001442776"/>
                  </a:ext>
                </a:extLst>
              </a:tr>
              <a:tr h="330207">
                <a:tc>
                  <a:txBody>
                    <a:bodyPr/>
                    <a:lstStyle/>
                    <a:p>
                      <a:r>
                        <a:rPr lang="zh-CN" altLang="en-US" sz="1200" b="1">
                          <a:effectLst/>
                        </a:rPr>
                        <a:t>最佳性能场景</a:t>
                      </a:r>
                      <a:endParaRPr lang="zh-CN" altLang="en-US" sz="1200" b="0">
                        <a:effectLst/>
                      </a:endParaRPr>
                    </a:p>
                  </a:txBody>
                  <a:tcPr marL="22201" marR="22201" marT="11100" marB="11100" anchor="ctr"/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effectLst/>
                        </a:rPr>
                        <a:t>AudioCaps</a:t>
                      </a:r>
                      <a:r>
                        <a:rPr lang="zh-CN" altLang="en-US" sz="1200" b="0">
                          <a:effectLst/>
                        </a:rPr>
                        <a:t>检索、环境声分类</a:t>
                      </a:r>
                    </a:p>
                  </a:txBody>
                  <a:tcPr marL="22201" marR="22201" marT="11100" marB="11100" anchor="ctr"/>
                </a:tc>
                <a:tc>
                  <a:txBody>
                    <a:bodyPr/>
                    <a:lstStyle/>
                    <a:p>
                      <a:r>
                        <a:rPr lang="zh-CN" altLang="en-US" sz="1200" b="0">
                          <a:effectLst/>
                        </a:rPr>
                        <a:t>音频泛化任务、音乐任务、平衡的检索性能</a:t>
                      </a:r>
                    </a:p>
                  </a:txBody>
                  <a:tcPr marL="22201" marR="22201" marT="11100" marB="11100" anchor="ctr"/>
                </a:tc>
                <a:extLst>
                  <a:ext uri="{0D108BD9-81ED-4DB2-BD59-A6C34878D82A}">
                    <a16:rowId xmlns:a16="http://schemas.microsoft.com/office/drawing/2014/main" val="21508920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77762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741D8-B3EF-35DF-BA91-11EE71E731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51A8EEAF-C298-31E0-5187-15388E0D2FDE}"/>
              </a:ext>
            </a:extLst>
          </p:cNvPr>
          <p:cNvSpPr txBox="1"/>
          <p:nvPr/>
        </p:nvSpPr>
        <p:spPr>
          <a:xfrm>
            <a:off x="720437" y="791854"/>
            <a:ext cx="886690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b="0" i="0">
                <a:effectLst/>
                <a:latin typeface="Ubuntu" panose="020F0502020204030204" pitchFamily="34" charset="0"/>
              </a:rPr>
              <a:t>CompA (ICLR 2024): Compositional Reasoning in Audio–Language Models</a:t>
            </a:r>
          </a:p>
          <a:p>
            <a:br>
              <a:rPr lang="en-US" altLang="zh-CN"/>
            </a:br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20687895-D58B-9992-F764-67CC0078C4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7691" y="1609779"/>
            <a:ext cx="7772400" cy="4350961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4B5B43F4-32E7-8106-F959-123A7332C147}"/>
              </a:ext>
            </a:extLst>
          </p:cNvPr>
          <p:cNvSpPr txBox="1"/>
          <p:nvPr/>
        </p:nvSpPr>
        <p:spPr>
          <a:xfrm>
            <a:off x="720437" y="145523"/>
            <a:ext cx="86590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i="0">
                <a:effectLst/>
                <a:latin typeface="Ubuntu" panose="020B0504030602030204" pitchFamily="34" charset="0"/>
              </a:rPr>
              <a:t>Wu et al., “Audio-text models do not yet leverage natural language,” ICASSP 2023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78736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90005A-B7BE-570E-5C26-B0CBF28E49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30E394D7-088E-E6A1-95C7-56C770F6099E}"/>
              </a:ext>
            </a:extLst>
          </p:cNvPr>
          <p:cNvSpPr txBox="1"/>
          <p:nvPr/>
        </p:nvSpPr>
        <p:spPr>
          <a:xfrm>
            <a:off x="720437" y="224182"/>
            <a:ext cx="886690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b="0" i="0">
                <a:effectLst/>
                <a:latin typeface="Ubuntu" panose="020F0502020204030204" pitchFamily="34" charset="0"/>
              </a:rPr>
              <a:t>CompA (ICLR 2024): Compositional Reasoning in Audio–Language Models</a:t>
            </a:r>
          </a:p>
          <a:p>
            <a:br>
              <a:rPr lang="en-US" altLang="zh-CN"/>
            </a:br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91E708F-E9C1-AC45-591A-A90E234D8DE3}"/>
              </a:ext>
            </a:extLst>
          </p:cNvPr>
          <p:cNvSpPr txBox="1"/>
          <p:nvPr/>
        </p:nvSpPr>
        <p:spPr>
          <a:xfrm>
            <a:off x="872835" y="1249464"/>
            <a:ext cx="886690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>
                <a:effectLst/>
                <a:latin typeface="Ubuntu" panose="020B0504030602030204" pitchFamily="34" charset="0"/>
              </a:rPr>
              <a:t>现有 </a:t>
            </a:r>
            <a:r>
              <a:rPr lang="en-US" altLang="zh-CN" b="0" i="0">
                <a:effectLst/>
                <a:latin typeface="Ubuntu" panose="020B0504030602030204" pitchFamily="34" charset="0"/>
              </a:rPr>
              <a:t>ALM</a:t>
            </a:r>
            <a:r>
              <a:rPr lang="zh-CN" altLang="en-US" b="0" i="0">
                <a:effectLst/>
                <a:latin typeface="Ubuntu" panose="020B0504030602030204" pitchFamily="34" charset="0"/>
              </a:rPr>
              <a:t>（如 </a:t>
            </a:r>
            <a:r>
              <a:rPr lang="en-US" altLang="zh-CN" b="0" i="0">
                <a:effectLst/>
                <a:latin typeface="Ubuntu" panose="020B0504030602030204" pitchFamily="34" charset="0"/>
              </a:rPr>
              <a:t>CLAP</a:t>
            </a:r>
            <a:r>
              <a:rPr lang="zh-CN" altLang="en-US" b="0" i="0">
                <a:effectLst/>
                <a:latin typeface="Ubuntu" panose="020B0504030602030204" pitchFamily="34" charset="0"/>
              </a:rPr>
              <a:t>）在检索</a:t>
            </a:r>
            <a:r>
              <a:rPr lang="en-US" altLang="zh-CN" b="0" i="0">
                <a:effectLst/>
                <a:latin typeface="Ubuntu" panose="020B0504030602030204" pitchFamily="34" charset="0"/>
              </a:rPr>
              <a:t>/</a:t>
            </a:r>
            <a:r>
              <a:rPr lang="zh-CN" altLang="en-US" b="0" i="0">
                <a:effectLst/>
                <a:latin typeface="Ubuntu" panose="020B0504030602030204" pitchFamily="34" charset="0"/>
              </a:rPr>
              <a:t>零样本上表现强，但常像“词袋”，忽略词序与属性绑定。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>
                <a:effectLst/>
                <a:latin typeface="Ubuntu" panose="020B0504030602030204" pitchFamily="34" charset="0"/>
              </a:rPr>
              <a:t>主流基准（</a:t>
            </a:r>
            <a:r>
              <a:rPr lang="en-US" altLang="zh-CN" b="0" i="0">
                <a:effectLst/>
                <a:latin typeface="Ubuntu" panose="020B0504030602030204" pitchFamily="34" charset="0"/>
              </a:rPr>
              <a:t>AudioCaps/Clotho</a:t>
            </a:r>
            <a:r>
              <a:rPr lang="zh-CN" altLang="en-US" b="0" i="0">
                <a:effectLst/>
                <a:latin typeface="Ubuntu" panose="020B0504030602030204" pitchFamily="34" charset="0"/>
              </a:rPr>
              <a:t>）很少考查组合结构；打乱词序往往几乎不影响检索。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6BAF8E9-B031-DF03-4B2F-CDA33C55DEE8}"/>
              </a:ext>
            </a:extLst>
          </p:cNvPr>
          <p:cNvSpPr txBox="1"/>
          <p:nvPr/>
        </p:nvSpPr>
        <p:spPr>
          <a:xfrm>
            <a:off x="872834" y="2371912"/>
            <a:ext cx="929640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br>
              <a:rPr lang="zh-CN" altLang="en-US" b="0" i="0">
                <a:effectLst/>
                <a:latin typeface="Ubuntu" panose="020B0504030602030204" pitchFamily="34" charset="0"/>
              </a:rPr>
            </a:br>
            <a:r>
              <a:rPr lang="zh-CN" altLang="en-US" b="0" i="0">
                <a:effectLst/>
                <a:latin typeface="Ubuntu" panose="020B0504030602030204" pitchFamily="34" charset="0"/>
              </a:rPr>
              <a:t>基准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altLang="zh-CN" b="0" i="0">
                <a:effectLst/>
                <a:latin typeface="Ubuntu" panose="020B0504030602030204" pitchFamily="34" charset="0"/>
              </a:rPr>
              <a:t>CompA-order</a:t>
            </a:r>
            <a:r>
              <a:rPr lang="zh-CN" altLang="en-US" b="0" i="0">
                <a:effectLst/>
                <a:latin typeface="Ubuntu" panose="020B0504030602030204" pitchFamily="34" charset="0"/>
              </a:rPr>
              <a:t>（</a:t>
            </a:r>
            <a:r>
              <a:rPr lang="en-US" altLang="zh-CN" b="0" i="0">
                <a:effectLst/>
                <a:latin typeface="Ubuntu" panose="020B0504030602030204" pitchFamily="34" charset="0"/>
              </a:rPr>
              <a:t>400</a:t>
            </a:r>
            <a:r>
              <a:rPr lang="zh-CN" altLang="en-US" b="0" i="0">
                <a:effectLst/>
                <a:latin typeface="Ubuntu" panose="020B0504030602030204" pitchFamily="34" charset="0"/>
              </a:rPr>
              <a:t>）：相同事件，不同时间关系（先后</a:t>
            </a:r>
            <a:r>
              <a:rPr lang="en-US" altLang="zh-CN" b="0" i="0">
                <a:effectLst/>
                <a:latin typeface="Ubuntu" panose="020B0504030602030204" pitchFamily="34" charset="0"/>
              </a:rPr>
              <a:t>/</a:t>
            </a:r>
            <a:r>
              <a:rPr lang="zh-CN" altLang="en-US" b="0" i="0">
                <a:effectLst/>
                <a:latin typeface="Ubuntu" panose="020B0504030602030204" pitchFamily="34" charset="0"/>
              </a:rPr>
              <a:t>重叠）。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altLang="zh-CN" b="0" i="0">
                <a:effectLst/>
                <a:latin typeface="Ubuntu" panose="020B0504030602030204" pitchFamily="34" charset="0"/>
              </a:rPr>
              <a:t>CompA-attribute</a:t>
            </a:r>
            <a:r>
              <a:rPr lang="zh-CN" altLang="en-US" b="0" i="0">
                <a:effectLst/>
                <a:latin typeface="Ubuntu" panose="020B0504030602030204" pitchFamily="34" charset="0"/>
              </a:rPr>
              <a:t>（</a:t>
            </a:r>
            <a:r>
              <a:rPr lang="en-US" altLang="zh-CN" b="0" i="0">
                <a:effectLst/>
                <a:latin typeface="Ubuntu" panose="020B0504030602030204" pitchFamily="34" charset="0"/>
              </a:rPr>
              <a:t>200</a:t>
            </a:r>
            <a:r>
              <a:rPr lang="zh-CN" altLang="en-US" b="0" i="0">
                <a:effectLst/>
                <a:latin typeface="Ubuntu" panose="020B0504030602030204" pitchFamily="34" charset="0"/>
              </a:rPr>
              <a:t>）：相同事件，不同属性</a:t>
            </a:r>
            <a:r>
              <a:rPr lang="en-US" altLang="zh-CN" b="0" i="0">
                <a:effectLst/>
                <a:latin typeface="Ubuntu" panose="020B0504030602030204" pitchFamily="34" charset="0"/>
              </a:rPr>
              <a:t>/</a:t>
            </a:r>
            <a:r>
              <a:rPr lang="zh-CN" altLang="en-US" b="0" i="0">
                <a:effectLst/>
                <a:latin typeface="Ubuntu" panose="020B0504030602030204" pitchFamily="34" charset="0"/>
              </a:rPr>
              <a:t>来源绑定（例如谁在哭 </a:t>
            </a:r>
            <a:r>
              <a:rPr lang="en-US" altLang="zh-CN" b="0" i="0">
                <a:effectLst/>
                <a:latin typeface="Ubuntu" panose="020B0504030602030204" pitchFamily="34" charset="0"/>
              </a:rPr>
              <a:t>vs </a:t>
            </a:r>
            <a:r>
              <a:rPr lang="zh-CN" altLang="en-US" b="0" i="0">
                <a:effectLst/>
                <a:latin typeface="Ubuntu" panose="020B0504030602030204" pitchFamily="34" charset="0"/>
              </a:rPr>
              <a:t>谁在笑）。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altLang="zh-CN" b="0" i="0">
                <a:effectLst/>
                <a:latin typeface="Ubuntu" panose="020B0504030602030204" pitchFamily="34" charset="0"/>
              </a:rPr>
              <a:t>Winograd </a:t>
            </a:r>
            <a:r>
              <a:rPr lang="zh-CN" altLang="en-US" b="0" i="0">
                <a:effectLst/>
                <a:latin typeface="Ubuntu" panose="020B0504030602030204" pitchFamily="34" charset="0"/>
              </a:rPr>
              <a:t>风格评测：文本得分、音频得分、组得分（需两端都匹配正确）。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>
                <a:effectLst/>
                <a:latin typeface="Ubuntu" panose="020B0504030602030204" pitchFamily="34" charset="0"/>
              </a:rPr>
              <a:t>发现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zh-CN" altLang="en-US" b="0" i="0">
                <a:effectLst/>
                <a:latin typeface="Ubuntu" panose="020B0504030602030204" pitchFamily="34" charset="0"/>
              </a:rPr>
              <a:t>现有 </a:t>
            </a:r>
            <a:r>
              <a:rPr lang="en-US" altLang="zh-CN" b="0" i="0">
                <a:effectLst/>
                <a:latin typeface="Ubuntu" panose="020B0504030602030204" pitchFamily="34" charset="0"/>
              </a:rPr>
              <a:t>ALM </a:t>
            </a:r>
            <a:r>
              <a:rPr lang="zh-CN" altLang="en-US" b="0" i="0">
                <a:effectLst/>
                <a:latin typeface="Ubuntu" panose="020B0504030602030204" pitchFamily="34" charset="0"/>
              </a:rPr>
              <a:t>在 </a:t>
            </a:r>
            <a:r>
              <a:rPr lang="en-US" altLang="zh-CN" b="0" i="0">
                <a:effectLst/>
                <a:latin typeface="Ubuntu" panose="020B0504030602030204" pitchFamily="34" charset="0"/>
              </a:rPr>
              <a:t>CompA </a:t>
            </a:r>
            <a:r>
              <a:rPr lang="zh-CN" altLang="en-US" b="0" i="0">
                <a:effectLst/>
                <a:latin typeface="Ubuntu" panose="020B0504030602030204" pitchFamily="34" charset="0"/>
              </a:rPr>
              <a:t>上接近随机；与人类差距明显。</a:t>
            </a:r>
          </a:p>
        </p:txBody>
      </p:sp>
    </p:spTree>
    <p:extLst>
      <p:ext uri="{BB962C8B-B14F-4D97-AF65-F5344CB8AC3E}">
        <p14:creationId xmlns:p14="http://schemas.microsoft.com/office/powerpoint/2010/main" val="9442362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79DF57-D3BD-BDAE-229C-A4788749A2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543FF284-22BA-E294-A0E5-FF3013B0720B}"/>
              </a:ext>
            </a:extLst>
          </p:cNvPr>
          <p:cNvSpPr txBox="1"/>
          <p:nvPr/>
        </p:nvSpPr>
        <p:spPr>
          <a:xfrm>
            <a:off x="720437" y="1485405"/>
            <a:ext cx="958734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>
                <a:effectLst/>
                <a:latin typeface="Ubuntu" panose="020B0504030602030204" pitchFamily="34" charset="0"/>
              </a:rPr>
              <a:t>数据构建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altLang="zh-CN" b="0" i="0">
                <a:effectLst/>
                <a:latin typeface="Ubuntu" panose="020B0504030602030204" pitchFamily="34" charset="0"/>
              </a:rPr>
              <a:t>AudioSet-CompA</a:t>
            </a:r>
            <a:r>
              <a:rPr lang="zh-CN" altLang="en-US" b="0" i="0">
                <a:effectLst/>
                <a:latin typeface="Ubuntu" panose="020B0504030602030204" pitchFamily="34" charset="0"/>
              </a:rPr>
              <a:t>（约 </a:t>
            </a:r>
            <a:r>
              <a:rPr lang="en-US" altLang="zh-CN" b="0" i="0">
                <a:effectLst/>
                <a:latin typeface="Ubuntu" panose="020B0504030602030204" pitchFamily="34" charset="0"/>
              </a:rPr>
              <a:t>11 </a:t>
            </a:r>
            <a:r>
              <a:rPr lang="zh-CN" altLang="en-US" b="0" i="0">
                <a:effectLst/>
                <a:latin typeface="Ubuntu" panose="020B0504030602030204" pitchFamily="34" charset="0"/>
              </a:rPr>
              <a:t>万）：基于 </a:t>
            </a:r>
            <a:r>
              <a:rPr lang="en-US" altLang="zh-CN" b="0" i="0">
                <a:effectLst/>
                <a:latin typeface="Ubuntu" panose="020B0504030602030204" pitchFamily="34" charset="0"/>
              </a:rPr>
              <a:t>AudioSet-Strong </a:t>
            </a:r>
            <a:r>
              <a:rPr lang="zh-CN" altLang="en-US" b="0" i="0">
                <a:effectLst/>
                <a:latin typeface="Ubuntu" panose="020B0504030602030204" pitchFamily="34" charset="0"/>
              </a:rPr>
              <a:t>时间戳，用 </a:t>
            </a:r>
            <a:r>
              <a:rPr lang="en-US" altLang="zh-CN" b="0" i="0">
                <a:effectLst/>
                <a:latin typeface="Ubuntu" panose="020B0504030602030204" pitchFamily="34" charset="0"/>
              </a:rPr>
              <a:t>GPT-4 </a:t>
            </a:r>
            <a:r>
              <a:rPr lang="zh-CN" altLang="en-US" b="0" i="0">
                <a:effectLst/>
                <a:latin typeface="Ubuntu" panose="020B0504030602030204" pitchFamily="34" charset="0"/>
              </a:rPr>
              <a:t>生成对齐的说明文字并人工校验。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altLang="zh-CN" b="0" i="0">
                <a:effectLst/>
                <a:latin typeface="Ubuntu" panose="020B0504030602030204" pitchFamily="34" charset="0"/>
              </a:rPr>
              <a:t>CompA-661k</a:t>
            </a:r>
            <a:r>
              <a:rPr lang="zh-CN" altLang="en-US" b="0" i="0">
                <a:effectLst/>
                <a:latin typeface="Ubuntu" panose="020B0504030602030204" pitchFamily="34" charset="0"/>
              </a:rPr>
              <a:t>（约 </a:t>
            </a:r>
            <a:r>
              <a:rPr lang="en-US" altLang="zh-CN" b="0" i="0">
                <a:effectLst/>
                <a:latin typeface="Ubuntu" panose="020B0504030602030204" pitchFamily="34" charset="0"/>
              </a:rPr>
              <a:t>66.1 </a:t>
            </a:r>
            <a:r>
              <a:rPr lang="zh-CN" altLang="en-US" b="0" i="0">
                <a:effectLst/>
                <a:latin typeface="Ubuntu" panose="020B0504030602030204" pitchFamily="34" charset="0"/>
              </a:rPr>
              <a:t>万）：强调多事件片段的再预训练集合。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zh-CN" altLang="en-US" b="0" i="0">
                <a:effectLst/>
                <a:latin typeface="Ubuntu" panose="020B0504030602030204" pitchFamily="34" charset="0"/>
              </a:rPr>
              <a:t>模块化合成集（约 </a:t>
            </a:r>
            <a:r>
              <a:rPr lang="en-US" altLang="zh-CN" b="0" i="0">
                <a:effectLst/>
                <a:latin typeface="Ubuntu" panose="020B0504030602030204" pitchFamily="34" charset="0"/>
              </a:rPr>
              <a:t>25.1 </a:t>
            </a:r>
            <a:r>
              <a:rPr lang="zh-CN" altLang="en-US" b="0" i="0">
                <a:effectLst/>
                <a:latin typeface="Ubuntu" panose="020B0504030602030204" pitchFamily="34" charset="0"/>
              </a:rPr>
              <a:t>万音频）：将单事件片段串接</a:t>
            </a:r>
            <a:r>
              <a:rPr lang="en-US" altLang="zh-CN" b="0" i="0">
                <a:effectLst/>
                <a:latin typeface="Ubuntu" panose="020B0504030602030204" pitchFamily="34" charset="0"/>
              </a:rPr>
              <a:t>/</a:t>
            </a:r>
            <a:r>
              <a:rPr lang="zh-CN" altLang="en-US" b="0" i="0">
                <a:effectLst/>
                <a:latin typeface="Ubuntu" panose="020B0504030602030204" pitchFamily="34" charset="0"/>
              </a:rPr>
              <a:t>叠加；按多粒度生成模板化描述。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>
                <a:effectLst/>
                <a:latin typeface="Ubuntu" panose="020B0504030602030204" pitchFamily="34" charset="0"/>
              </a:rPr>
              <a:t>方法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zh-CN" altLang="en-US" b="0" i="0">
                <a:effectLst/>
                <a:latin typeface="Ubuntu" panose="020B0504030602030204" pitchFamily="34" charset="0"/>
              </a:rPr>
              <a:t>组合感知的困难负样本：</a:t>
            </a:r>
            <a:r>
              <a:rPr lang="en-US" altLang="zh-CN" b="0" i="0">
                <a:effectLst/>
                <a:latin typeface="Ubuntu" panose="020B0504030602030204" pitchFamily="34" charset="0"/>
              </a:rPr>
              <a:t>LLM </a:t>
            </a:r>
            <a:r>
              <a:rPr lang="zh-CN" altLang="en-US" b="0" i="0">
                <a:effectLst/>
                <a:latin typeface="Ubuntu" panose="020B0504030602030204" pitchFamily="34" charset="0"/>
              </a:rPr>
              <a:t>生成次序</a:t>
            </a:r>
            <a:r>
              <a:rPr lang="en-US" altLang="zh-CN" b="0" i="0">
                <a:effectLst/>
                <a:latin typeface="Ubuntu" panose="020B0504030602030204" pitchFamily="34" charset="0"/>
              </a:rPr>
              <a:t>/</a:t>
            </a:r>
            <a:r>
              <a:rPr lang="zh-CN" altLang="en-US" b="0" i="0">
                <a:effectLst/>
                <a:latin typeface="Ubuntu" panose="020B0504030602030204" pitchFamily="34" charset="0"/>
              </a:rPr>
              <a:t>属性互换等“陷阱”描述；在损失中将负样本限定为同源音频范围。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zh-CN" altLang="en-US" b="0" i="0">
                <a:effectLst/>
                <a:latin typeface="Ubuntu" panose="020B0504030602030204" pitchFamily="34" charset="0"/>
              </a:rPr>
              <a:t>模块化对比损失：每段音频配多条精细正样本描述，搭配精心设计的负样本；采用非对称式损失变体。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9BC14C0-A91E-9D90-5B6E-1944B7879DBD}"/>
              </a:ext>
            </a:extLst>
          </p:cNvPr>
          <p:cNvSpPr txBox="1"/>
          <p:nvPr/>
        </p:nvSpPr>
        <p:spPr>
          <a:xfrm>
            <a:off x="720437" y="224182"/>
            <a:ext cx="886690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b="0" i="0">
                <a:effectLst/>
                <a:latin typeface="Ubuntu" panose="020F0502020204030204" pitchFamily="34" charset="0"/>
              </a:rPr>
              <a:t>CompA (ICLR 2024): Compositional Reasoning in Audio–Language Models</a:t>
            </a:r>
          </a:p>
          <a:p>
            <a:br>
              <a:rPr lang="en-US" altLang="zh-CN"/>
            </a:b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71945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7B15E4-AFAC-DFE0-9301-4E5A34F333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B4E9EE8E-1094-AEF1-2BEA-DFD6E8BCC0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0681" y="1582635"/>
            <a:ext cx="7340600" cy="2552700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6081DD3E-5543-28F5-E979-90AAF79B3A81}"/>
              </a:ext>
            </a:extLst>
          </p:cNvPr>
          <p:cNvSpPr txBox="1"/>
          <p:nvPr/>
        </p:nvSpPr>
        <p:spPr>
          <a:xfrm>
            <a:off x="2327564" y="629392"/>
            <a:ext cx="26629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/>
              <a:t>生成</a:t>
            </a:r>
            <a:r>
              <a:rPr kumimoji="1" lang="en-US" altLang="zh-CN"/>
              <a:t> caption</a:t>
            </a:r>
            <a:r>
              <a:rPr kumimoji="1" lang="zh-CN" altLang="en-US"/>
              <a:t> 的基本链路</a:t>
            </a:r>
          </a:p>
        </p:txBody>
      </p:sp>
    </p:spTree>
    <p:extLst>
      <p:ext uri="{BB962C8B-B14F-4D97-AF65-F5344CB8AC3E}">
        <p14:creationId xmlns:p14="http://schemas.microsoft.com/office/powerpoint/2010/main" val="39601291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3DA327-B2C9-F6B4-4F51-9FFDC57BC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89E751C-03E9-9622-8FFC-D649404E14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057" y="2200090"/>
            <a:ext cx="11221885" cy="2457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4715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309559-7CEB-22D9-1152-37B174859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45350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130D55-B8A7-9231-9203-B64318F8A5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04893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F90E4B-601A-8C40-1CD3-AF578E236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B37AC75A-A6F2-8CAE-2306-DA08A88B30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6135145"/>
              </p:ext>
            </p:extLst>
          </p:nvPr>
        </p:nvGraphicFramePr>
        <p:xfrm>
          <a:off x="955964" y="1007851"/>
          <a:ext cx="8312725" cy="4842297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662545">
                  <a:extLst>
                    <a:ext uri="{9D8B030D-6E8A-4147-A177-3AD203B41FA5}">
                      <a16:colId xmlns:a16="http://schemas.microsoft.com/office/drawing/2014/main" val="1666632178"/>
                    </a:ext>
                  </a:extLst>
                </a:gridCol>
                <a:gridCol w="1662545">
                  <a:extLst>
                    <a:ext uri="{9D8B030D-6E8A-4147-A177-3AD203B41FA5}">
                      <a16:colId xmlns:a16="http://schemas.microsoft.com/office/drawing/2014/main" val="2680339297"/>
                    </a:ext>
                  </a:extLst>
                </a:gridCol>
                <a:gridCol w="1662545">
                  <a:extLst>
                    <a:ext uri="{9D8B030D-6E8A-4147-A177-3AD203B41FA5}">
                      <a16:colId xmlns:a16="http://schemas.microsoft.com/office/drawing/2014/main" val="370157014"/>
                    </a:ext>
                  </a:extLst>
                </a:gridCol>
                <a:gridCol w="1662545">
                  <a:extLst>
                    <a:ext uri="{9D8B030D-6E8A-4147-A177-3AD203B41FA5}">
                      <a16:colId xmlns:a16="http://schemas.microsoft.com/office/drawing/2014/main" val="877602323"/>
                    </a:ext>
                  </a:extLst>
                </a:gridCol>
                <a:gridCol w="1662545">
                  <a:extLst>
                    <a:ext uri="{9D8B030D-6E8A-4147-A177-3AD203B41FA5}">
                      <a16:colId xmlns:a16="http://schemas.microsoft.com/office/drawing/2014/main" val="1495989998"/>
                    </a:ext>
                  </a:extLst>
                </a:gridCol>
              </a:tblGrid>
              <a:tr h="167359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00" b="1">
                          <a:effectLst/>
                        </a:rPr>
                        <a:t>类别</a:t>
                      </a:r>
                    </a:p>
                  </a:txBody>
                  <a:tcPr marL="16736" marR="16736" marT="8368" marB="836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00" b="1">
                          <a:effectLst/>
                        </a:rPr>
                        <a:t>模型名称</a:t>
                      </a:r>
                    </a:p>
                  </a:txBody>
                  <a:tcPr marL="16736" marR="16736" marT="8368" marB="836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00" b="1">
                          <a:effectLst/>
                        </a:rPr>
                        <a:t>核心思想 </a:t>
                      </a:r>
                      <a:r>
                        <a:rPr lang="en-US" altLang="zh-CN" sz="1100" b="1">
                          <a:effectLst/>
                        </a:rPr>
                        <a:t>/ </a:t>
                      </a:r>
                      <a:r>
                        <a:rPr lang="zh-CN" altLang="en-US" sz="1100" b="1">
                          <a:effectLst/>
                        </a:rPr>
                        <a:t>架构</a:t>
                      </a:r>
                    </a:p>
                  </a:txBody>
                  <a:tcPr marL="16736" marR="16736" marT="8368" marB="836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00" b="1">
                          <a:effectLst/>
                        </a:rPr>
                        <a:t>输入格式</a:t>
                      </a:r>
                    </a:p>
                  </a:txBody>
                  <a:tcPr marL="16736" marR="16736" marT="8368" marB="836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00" b="1">
                          <a:effectLst/>
                        </a:rPr>
                        <a:t>主要贡献 </a:t>
                      </a:r>
                      <a:r>
                        <a:rPr lang="en-US" altLang="zh-CN" sz="1100" b="1">
                          <a:effectLst/>
                        </a:rPr>
                        <a:t>/ </a:t>
                      </a:r>
                      <a:r>
                        <a:rPr lang="zh-CN" altLang="en-US" sz="1100" b="1">
                          <a:effectLst/>
                        </a:rPr>
                        <a:t>特点</a:t>
                      </a:r>
                    </a:p>
                  </a:txBody>
                  <a:tcPr marL="16736" marR="16736" marT="8368" marB="8368" anchor="ctr"/>
                </a:tc>
                <a:extLst>
                  <a:ext uri="{0D108BD9-81ED-4DB2-BD59-A6C34878D82A}">
                    <a16:rowId xmlns:a16="http://schemas.microsoft.com/office/drawing/2014/main" val="3450098984"/>
                  </a:ext>
                </a:extLst>
              </a:tr>
              <a:tr h="317982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00" b="1">
                          <a:effectLst/>
                        </a:rPr>
                        <a:t>基于</a:t>
                      </a:r>
                      <a:r>
                        <a:rPr lang="en-US" sz="1100" b="1">
                          <a:effectLst/>
                        </a:rPr>
                        <a:t>CNN</a:t>
                      </a:r>
                      <a:r>
                        <a:rPr lang="zh-CN" altLang="en-US" sz="1100" b="1">
                          <a:effectLst/>
                        </a:rPr>
                        <a:t>的模型</a:t>
                      </a:r>
                      <a:endParaRPr lang="zh-CN" altLang="en-US" sz="1100" b="0">
                        <a:effectLst/>
                      </a:endParaRPr>
                    </a:p>
                  </a:txBody>
                  <a:tcPr marL="16736" marR="16736" marT="8368" marB="836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>
                          <a:effectLst/>
                        </a:rPr>
                        <a:t>AlexNet, VGG</a:t>
                      </a:r>
                    </a:p>
                  </a:txBody>
                  <a:tcPr marL="16736" marR="16736" marT="8368" marB="836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00" b="0">
                          <a:effectLst/>
                        </a:rPr>
                        <a:t>标准的深度</a:t>
                      </a:r>
                      <a:r>
                        <a:rPr lang="en-US" sz="1100" b="0">
                          <a:effectLst/>
                        </a:rPr>
                        <a:t>CNN</a:t>
                      </a:r>
                      <a:r>
                        <a:rPr lang="zh-CN" altLang="en-US" sz="1100" b="0">
                          <a:effectLst/>
                        </a:rPr>
                        <a:t>架构</a:t>
                      </a:r>
                    </a:p>
                  </a:txBody>
                  <a:tcPr marL="16736" marR="16736" marT="8368" marB="836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00" b="0">
                          <a:effectLst/>
                        </a:rPr>
                        <a:t>对数梅尔频谱图</a:t>
                      </a:r>
                    </a:p>
                  </a:txBody>
                  <a:tcPr marL="16736" marR="16736" marT="8368" marB="836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00" b="0">
                          <a:effectLst/>
                        </a:rPr>
                        <a:t>开创了将深度</a:t>
                      </a:r>
                      <a:r>
                        <a:rPr lang="en-US" sz="1100" b="0">
                          <a:effectLst/>
                        </a:rPr>
                        <a:t>CNN</a:t>
                      </a:r>
                      <a:r>
                        <a:rPr lang="zh-CN" altLang="en-US" sz="1100" b="0">
                          <a:effectLst/>
                        </a:rPr>
                        <a:t>用于音频分类的先河。</a:t>
                      </a:r>
                    </a:p>
                  </a:txBody>
                  <a:tcPr marL="16736" marR="16736" marT="8368" marB="8368" anchor="ctr"/>
                </a:tc>
                <a:extLst>
                  <a:ext uri="{0D108BD9-81ED-4DB2-BD59-A6C34878D82A}">
                    <a16:rowId xmlns:a16="http://schemas.microsoft.com/office/drawing/2014/main" val="3307750901"/>
                  </a:ext>
                </a:extLst>
              </a:tr>
              <a:tr h="418398">
                <a:tc>
                  <a:txBody>
                    <a:bodyPr/>
                    <a:lstStyle/>
                    <a:p>
                      <a:pPr algn="l"/>
                      <a:endParaRPr lang="zh-CN" altLang="en-US" sz="1100" b="0">
                        <a:effectLst/>
                      </a:endParaRPr>
                    </a:p>
                  </a:txBody>
                  <a:tcPr marL="16736" marR="16736" marT="8368" marB="836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>
                          <a:effectLst/>
                        </a:rPr>
                        <a:t>PANNs (CNN14)</a:t>
                      </a:r>
                    </a:p>
                  </a:txBody>
                  <a:tcPr marL="16736" marR="16736" marT="8368" marB="836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00" b="0">
                          <a:effectLst/>
                        </a:rPr>
                        <a:t>更深的</a:t>
                      </a:r>
                      <a:r>
                        <a:rPr lang="en-US" sz="1100" b="0">
                          <a:effectLst/>
                        </a:rPr>
                        <a:t>CNN（14</a:t>
                      </a:r>
                      <a:r>
                        <a:rPr lang="zh-CN" altLang="en-US" sz="1100" b="0">
                          <a:effectLst/>
                        </a:rPr>
                        <a:t>层）</a:t>
                      </a:r>
                    </a:p>
                  </a:txBody>
                  <a:tcPr marL="16736" marR="16736" marT="8368" marB="836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00" b="0">
                          <a:effectLst/>
                        </a:rPr>
                        <a:t>对数梅尔频谱图</a:t>
                      </a:r>
                    </a:p>
                  </a:txBody>
                  <a:tcPr marL="16736" marR="16736" marT="8368" marB="836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00" b="0">
                          <a:effectLst/>
                        </a:rPr>
                        <a:t>在</a:t>
                      </a:r>
                      <a:r>
                        <a:rPr lang="en-US" sz="1100" b="0">
                          <a:effectLst/>
                        </a:rPr>
                        <a:t>AudioSet</a:t>
                      </a:r>
                      <a:r>
                        <a:rPr lang="zh-CN" altLang="en-US" sz="1100" b="0">
                          <a:effectLst/>
                        </a:rPr>
                        <a:t>上达到先进水平，证明了</a:t>
                      </a:r>
                      <a:r>
                        <a:rPr lang="en-US" sz="1100" b="0">
                          <a:effectLst/>
                        </a:rPr>
                        <a:t>CNN</a:t>
                      </a:r>
                      <a:r>
                        <a:rPr lang="zh-CN" altLang="en-US" sz="1100" b="0">
                          <a:effectLst/>
                        </a:rPr>
                        <a:t>的有效性。</a:t>
                      </a:r>
                    </a:p>
                  </a:txBody>
                  <a:tcPr marL="16736" marR="16736" marT="8368" marB="8368" anchor="ctr"/>
                </a:tc>
                <a:extLst>
                  <a:ext uri="{0D108BD9-81ED-4DB2-BD59-A6C34878D82A}">
                    <a16:rowId xmlns:a16="http://schemas.microsoft.com/office/drawing/2014/main" val="3979682255"/>
                  </a:ext>
                </a:extLst>
              </a:tr>
              <a:tr h="569021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00" b="1">
                          <a:effectLst/>
                        </a:rPr>
                        <a:t>基于</a:t>
                      </a:r>
                      <a:r>
                        <a:rPr lang="en-US" sz="1100" b="1">
                          <a:effectLst/>
                        </a:rPr>
                        <a:t>Transformer</a:t>
                      </a:r>
                      <a:r>
                        <a:rPr lang="zh-CN" altLang="en-US" sz="1100" b="1">
                          <a:effectLst/>
                        </a:rPr>
                        <a:t>的模型</a:t>
                      </a:r>
                      <a:endParaRPr lang="zh-CN" altLang="en-US" sz="1100" b="0">
                        <a:effectLst/>
                      </a:endParaRPr>
                    </a:p>
                  </a:txBody>
                  <a:tcPr marL="16736" marR="16736" marT="8368" marB="836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>
                          <a:effectLst/>
                        </a:rPr>
                        <a:t>Wav2vec 2.0</a:t>
                      </a:r>
                    </a:p>
                  </a:txBody>
                  <a:tcPr marL="16736" marR="16736" marT="8368" marB="836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>
                          <a:effectLst/>
                        </a:rPr>
                        <a:t>CNN + Transformer（</a:t>
                      </a:r>
                      <a:r>
                        <a:rPr lang="zh-CN" altLang="en-US" sz="1100" b="0">
                          <a:effectLst/>
                        </a:rPr>
                        <a:t>自监督）</a:t>
                      </a:r>
                    </a:p>
                  </a:txBody>
                  <a:tcPr marL="16736" marR="16736" marT="8368" marB="836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00" b="0">
                          <a:effectLst/>
                        </a:rPr>
                        <a:t>原始波形</a:t>
                      </a:r>
                    </a:p>
                  </a:txBody>
                  <a:tcPr marL="16736" marR="16736" marT="8368" marB="836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00" b="0">
                          <a:effectLst/>
                        </a:rPr>
                        <a:t>结合了局部（</a:t>
                      </a:r>
                      <a:r>
                        <a:rPr lang="en-US" sz="1100" b="0">
                          <a:effectLst/>
                        </a:rPr>
                        <a:t>CNN）</a:t>
                      </a:r>
                      <a:r>
                        <a:rPr lang="zh-CN" altLang="en-US" sz="1100" b="0">
                          <a:effectLst/>
                        </a:rPr>
                        <a:t>和全局（</a:t>
                      </a:r>
                      <a:r>
                        <a:rPr lang="en-US" sz="1100" b="0">
                          <a:effectLst/>
                        </a:rPr>
                        <a:t>Transformer）</a:t>
                      </a:r>
                      <a:r>
                        <a:rPr lang="zh-CN" altLang="en-US" sz="1100" b="0">
                          <a:effectLst/>
                        </a:rPr>
                        <a:t>建模，并采用掩码预测任务。</a:t>
                      </a:r>
                    </a:p>
                  </a:txBody>
                  <a:tcPr marL="16736" marR="16736" marT="8368" marB="8368" anchor="ctr"/>
                </a:tc>
                <a:extLst>
                  <a:ext uri="{0D108BD9-81ED-4DB2-BD59-A6C34878D82A}">
                    <a16:rowId xmlns:a16="http://schemas.microsoft.com/office/drawing/2014/main" val="2332670371"/>
                  </a:ext>
                </a:extLst>
              </a:tr>
              <a:tr h="468606">
                <a:tc>
                  <a:txBody>
                    <a:bodyPr/>
                    <a:lstStyle/>
                    <a:p>
                      <a:pPr algn="l"/>
                      <a:endParaRPr lang="zh-CN" altLang="en-US" sz="1100" b="0">
                        <a:effectLst/>
                      </a:endParaRPr>
                    </a:p>
                  </a:txBody>
                  <a:tcPr marL="16736" marR="16736" marT="8368" marB="836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>
                          <a:effectLst/>
                        </a:rPr>
                        <a:t>HuBERT</a:t>
                      </a:r>
                    </a:p>
                  </a:txBody>
                  <a:tcPr marL="16736" marR="16736" marT="8368" marB="836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>
                          <a:effectLst/>
                        </a:rPr>
                        <a:t>CNN + Transformer（</a:t>
                      </a:r>
                      <a:r>
                        <a:rPr lang="zh-CN" altLang="en-US" sz="1100" b="0">
                          <a:effectLst/>
                        </a:rPr>
                        <a:t>自监督）</a:t>
                      </a:r>
                    </a:p>
                  </a:txBody>
                  <a:tcPr marL="16736" marR="16736" marT="8368" marB="836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00" b="0">
                          <a:effectLst/>
                        </a:rPr>
                        <a:t>原始波形</a:t>
                      </a:r>
                    </a:p>
                  </a:txBody>
                  <a:tcPr marL="16736" marR="16736" marT="8368" marB="836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00" b="0">
                          <a:effectLst/>
                        </a:rPr>
                        <a:t>通过使用离线聚类生成更好的训练目标，改进了</a:t>
                      </a:r>
                      <a:r>
                        <a:rPr lang="en-US" sz="1100" b="0">
                          <a:effectLst/>
                        </a:rPr>
                        <a:t>Wav2vec 2.0。</a:t>
                      </a:r>
                    </a:p>
                  </a:txBody>
                  <a:tcPr marL="16736" marR="16736" marT="8368" marB="8368" anchor="ctr"/>
                </a:tc>
                <a:extLst>
                  <a:ext uri="{0D108BD9-81ED-4DB2-BD59-A6C34878D82A}">
                    <a16:rowId xmlns:a16="http://schemas.microsoft.com/office/drawing/2014/main" val="1742979839"/>
                  </a:ext>
                </a:extLst>
              </a:tr>
              <a:tr h="518813">
                <a:tc>
                  <a:txBody>
                    <a:bodyPr/>
                    <a:lstStyle/>
                    <a:p>
                      <a:pPr algn="l"/>
                      <a:endParaRPr lang="zh-CN" altLang="en-US" sz="1100" b="0">
                        <a:effectLst/>
                      </a:endParaRPr>
                    </a:p>
                  </a:txBody>
                  <a:tcPr marL="16736" marR="16736" marT="8368" marB="836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>
                          <a:effectLst/>
                        </a:rPr>
                        <a:t>Whisper</a:t>
                      </a:r>
                    </a:p>
                  </a:txBody>
                  <a:tcPr marL="16736" marR="16736" marT="8368" marB="836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00" b="0">
                          <a:effectLst/>
                        </a:rPr>
                        <a:t>编码器</a:t>
                      </a:r>
                      <a:r>
                        <a:rPr lang="en-US" altLang="zh-CN" sz="1100" b="0">
                          <a:effectLst/>
                        </a:rPr>
                        <a:t>-</a:t>
                      </a:r>
                      <a:r>
                        <a:rPr lang="zh-CN" altLang="en-US" sz="1100" b="0">
                          <a:effectLst/>
                        </a:rPr>
                        <a:t>解码器</a:t>
                      </a:r>
                      <a:r>
                        <a:rPr lang="en-US" sz="1100" b="0">
                          <a:effectLst/>
                        </a:rPr>
                        <a:t>Transformer（</a:t>
                      </a:r>
                      <a:r>
                        <a:rPr lang="zh-CN" altLang="en-US" sz="1100" b="0">
                          <a:effectLst/>
                        </a:rPr>
                        <a:t>有监督）</a:t>
                      </a:r>
                    </a:p>
                  </a:txBody>
                  <a:tcPr marL="16736" marR="16736" marT="8368" marB="836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00" b="0">
                          <a:effectLst/>
                        </a:rPr>
                        <a:t>频谱图</a:t>
                      </a:r>
                    </a:p>
                  </a:txBody>
                  <a:tcPr marL="16736" marR="16736" marT="8368" marB="836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00" b="0">
                          <a:effectLst/>
                        </a:rPr>
                        <a:t>在多样化的语音数据上进行多任务训练，防止过拟合，泛化能力强。</a:t>
                      </a:r>
                    </a:p>
                  </a:txBody>
                  <a:tcPr marL="16736" marR="16736" marT="8368" marB="8368" anchor="ctr"/>
                </a:tc>
                <a:extLst>
                  <a:ext uri="{0D108BD9-81ED-4DB2-BD59-A6C34878D82A}">
                    <a16:rowId xmlns:a16="http://schemas.microsoft.com/office/drawing/2014/main" val="2525255345"/>
                  </a:ext>
                </a:extLst>
              </a:tr>
              <a:tr h="418398">
                <a:tc>
                  <a:txBody>
                    <a:bodyPr/>
                    <a:lstStyle/>
                    <a:p>
                      <a:pPr algn="l"/>
                      <a:endParaRPr lang="zh-CN" altLang="en-US" sz="1100" b="0">
                        <a:effectLst/>
                      </a:endParaRPr>
                    </a:p>
                  </a:txBody>
                  <a:tcPr marL="16736" marR="16736" marT="8368" marB="836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>
                          <a:effectLst/>
                        </a:rPr>
                        <a:t>AST</a:t>
                      </a:r>
                    </a:p>
                  </a:txBody>
                  <a:tcPr marL="16736" marR="16736" marT="8368" marB="836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00" b="0">
                          <a:effectLst/>
                        </a:rPr>
                        <a:t>纯</a:t>
                      </a:r>
                      <a:r>
                        <a:rPr lang="en-US" sz="1100" b="0">
                          <a:effectLst/>
                        </a:rPr>
                        <a:t>Transformer</a:t>
                      </a:r>
                      <a:r>
                        <a:rPr lang="zh-CN" altLang="en-US" sz="1100" b="0">
                          <a:effectLst/>
                        </a:rPr>
                        <a:t>架构（无</a:t>
                      </a:r>
                      <a:r>
                        <a:rPr lang="en-US" sz="1100" b="0">
                          <a:effectLst/>
                        </a:rPr>
                        <a:t>CNN）</a:t>
                      </a:r>
                    </a:p>
                  </a:txBody>
                  <a:tcPr marL="16736" marR="16736" marT="8368" marB="836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00" b="0">
                          <a:effectLst/>
                        </a:rPr>
                        <a:t>频谱图</a:t>
                      </a:r>
                    </a:p>
                  </a:txBody>
                  <a:tcPr marL="16736" marR="16736" marT="8368" marB="836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00" b="0">
                          <a:effectLst/>
                        </a:rPr>
                        <a:t>首个用于音频的纯</a:t>
                      </a:r>
                      <a:r>
                        <a:rPr lang="en-US" sz="1100" b="0">
                          <a:effectLst/>
                        </a:rPr>
                        <a:t>Transformer</a:t>
                      </a:r>
                      <a:r>
                        <a:rPr lang="zh-CN" altLang="en-US" sz="1100" b="0">
                          <a:effectLst/>
                        </a:rPr>
                        <a:t>模型；灵活但计算成本高。</a:t>
                      </a:r>
                    </a:p>
                  </a:txBody>
                  <a:tcPr marL="16736" marR="16736" marT="8368" marB="8368" anchor="ctr"/>
                </a:tc>
                <a:extLst>
                  <a:ext uri="{0D108BD9-81ED-4DB2-BD59-A6C34878D82A}">
                    <a16:rowId xmlns:a16="http://schemas.microsoft.com/office/drawing/2014/main" val="566622280"/>
                  </a:ext>
                </a:extLst>
              </a:tr>
              <a:tr h="267775">
                <a:tc>
                  <a:txBody>
                    <a:bodyPr/>
                    <a:lstStyle/>
                    <a:p>
                      <a:pPr algn="l"/>
                      <a:endParaRPr lang="zh-CN" altLang="en-US" sz="1100" b="0">
                        <a:effectLst/>
                      </a:endParaRPr>
                    </a:p>
                  </a:txBody>
                  <a:tcPr marL="16736" marR="16736" marT="8368" marB="836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>
                          <a:effectLst/>
                        </a:rPr>
                        <a:t>HTSAT</a:t>
                      </a:r>
                    </a:p>
                  </a:txBody>
                  <a:tcPr marL="16736" marR="16736" marT="8368" marB="836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00" b="0">
                          <a:effectLst/>
                        </a:rPr>
                        <a:t>分层式</a:t>
                      </a:r>
                      <a:r>
                        <a:rPr lang="en-US" sz="1100" b="0">
                          <a:effectLst/>
                        </a:rPr>
                        <a:t>Transformer</a:t>
                      </a:r>
                    </a:p>
                  </a:txBody>
                  <a:tcPr marL="16736" marR="16736" marT="8368" marB="836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00" b="0">
                          <a:effectLst/>
                        </a:rPr>
                        <a:t>频谱图</a:t>
                      </a:r>
                    </a:p>
                  </a:txBody>
                  <a:tcPr marL="16736" marR="16736" marT="8368" marB="836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00" b="0">
                          <a:effectLst/>
                        </a:rPr>
                        <a:t>通过分层结构有效处理长音频序列。</a:t>
                      </a:r>
                    </a:p>
                  </a:txBody>
                  <a:tcPr marL="16736" marR="16736" marT="8368" marB="8368" anchor="ctr"/>
                </a:tc>
                <a:extLst>
                  <a:ext uri="{0D108BD9-81ED-4DB2-BD59-A6C34878D82A}">
                    <a16:rowId xmlns:a16="http://schemas.microsoft.com/office/drawing/2014/main" val="1568510734"/>
                  </a:ext>
                </a:extLst>
              </a:tr>
              <a:tr h="418398">
                <a:tc>
                  <a:txBody>
                    <a:bodyPr/>
                    <a:lstStyle/>
                    <a:p>
                      <a:pPr algn="l"/>
                      <a:endParaRPr lang="zh-CN" altLang="en-US" sz="1100" b="0">
                        <a:effectLst/>
                      </a:endParaRPr>
                    </a:p>
                  </a:txBody>
                  <a:tcPr marL="16736" marR="16736" marT="8368" marB="836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>
                          <a:effectLst/>
                        </a:rPr>
                        <a:t>AudioMAE</a:t>
                      </a:r>
                    </a:p>
                  </a:txBody>
                  <a:tcPr marL="16736" marR="16736" marT="8368" marB="836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00" b="0">
                          <a:effectLst/>
                        </a:rPr>
                        <a:t>掩码自编码器</a:t>
                      </a:r>
                    </a:p>
                  </a:txBody>
                  <a:tcPr marL="16736" marR="16736" marT="8368" marB="836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00" b="0">
                          <a:effectLst/>
                        </a:rPr>
                        <a:t>频谱图</a:t>
                      </a:r>
                    </a:p>
                  </a:txBody>
                  <a:tcPr marL="16736" marR="16736" marT="8368" marB="836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00" b="0">
                          <a:effectLst/>
                        </a:rPr>
                        <a:t>采用高掩码率的预训练方法，学习高效且强大的表示。</a:t>
                      </a:r>
                    </a:p>
                  </a:txBody>
                  <a:tcPr marL="16736" marR="16736" marT="8368" marB="8368" anchor="ctr"/>
                </a:tc>
                <a:extLst>
                  <a:ext uri="{0D108BD9-81ED-4DB2-BD59-A6C34878D82A}">
                    <a16:rowId xmlns:a16="http://schemas.microsoft.com/office/drawing/2014/main" val="4076910103"/>
                  </a:ext>
                </a:extLst>
              </a:tr>
              <a:tr h="36819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00" b="1">
                          <a:effectLst/>
                        </a:rPr>
                        <a:t>基于编解码器的模型</a:t>
                      </a:r>
                      <a:endParaRPr lang="zh-CN" altLang="en-US" sz="1100" b="0">
                        <a:effectLst/>
                      </a:endParaRPr>
                    </a:p>
                  </a:txBody>
                  <a:tcPr marL="16736" marR="16736" marT="8368" marB="836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>
                          <a:effectLst/>
                        </a:rPr>
                        <a:t>SoundStream</a:t>
                      </a:r>
                    </a:p>
                  </a:txBody>
                  <a:tcPr marL="16736" marR="16736" marT="8368" marB="836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00" b="0">
                          <a:effectLst/>
                        </a:rPr>
                        <a:t>神经编解码器（编码器</a:t>
                      </a:r>
                      <a:r>
                        <a:rPr lang="en-US" altLang="zh-CN" sz="1100" b="0">
                          <a:effectLst/>
                        </a:rPr>
                        <a:t>-</a:t>
                      </a:r>
                      <a:r>
                        <a:rPr lang="en-US" sz="1100" b="0">
                          <a:effectLst/>
                        </a:rPr>
                        <a:t>RVQ-</a:t>
                      </a:r>
                      <a:r>
                        <a:rPr lang="zh-CN" altLang="en-US" sz="1100" b="0">
                          <a:effectLst/>
                        </a:rPr>
                        <a:t>解码器）</a:t>
                      </a:r>
                    </a:p>
                  </a:txBody>
                  <a:tcPr marL="16736" marR="16736" marT="8368" marB="836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00" b="0">
                          <a:effectLst/>
                        </a:rPr>
                        <a:t>原始波形</a:t>
                      </a:r>
                    </a:p>
                  </a:txBody>
                  <a:tcPr marL="16736" marR="16736" marT="8368" marB="836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00" b="0">
                          <a:effectLst/>
                        </a:rPr>
                        <a:t>开创性的神经音频编解码器，为</a:t>
                      </a:r>
                      <a:r>
                        <a:rPr lang="en-US" sz="1100" b="0">
                          <a:effectLst/>
                        </a:rPr>
                        <a:t>ALM</a:t>
                      </a:r>
                      <a:r>
                        <a:rPr lang="zh-CN" altLang="en-US" sz="1100" b="0">
                          <a:effectLst/>
                        </a:rPr>
                        <a:t>生成离散令牌。</a:t>
                      </a:r>
                    </a:p>
                  </a:txBody>
                  <a:tcPr marL="16736" marR="16736" marT="8368" marB="8368" anchor="ctr"/>
                </a:tc>
                <a:extLst>
                  <a:ext uri="{0D108BD9-81ED-4DB2-BD59-A6C34878D82A}">
                    <a16:rowId xmlns:a16="http://schemas.microsoft.com/office/drawing/2014/main" val="1633957964"/>
                  </a:ext>
                </a:extLst>
              </a:tr>
              <a:tr h="418398">
                <a:tc>
                  <a:txBody>
                    <a:bodyPr/>
                    <a:lstStyle/>
                    <a:p>
                      <a:pPr algn="l"/>
                      <a:endParaRPr lang="zh-CN" altLang="en-US" sz="1100" b="0">
                        <a:effectLst/>
                      </a:endParaRPr>
                    </a:p>
                  </a:txBody>
                  <a:tcPr marL="16736" marR="16736" marT="8368" marB="836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>
                          <a:effectLst/>
                        </a:rPr>
                        <a:t>Encodec</a:t>
                      </a:r>
                    </a:p>
                  </a:txBody>
                  <a:tcPr marL="16736" marR="16736" marT="8368" marB="836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00" b="0">
                          <a:effectLst/>
                        </a:rPr>
                        <a:t>增强了</a:t>
                      </a:r>
                      <a:r>
                        <a:rPr lang="en-US" sz="1100" b="0">
                          <a:effectLst/>
                        </a:rPr>
                        <a:t>SoundStream + LSTM</a:t>
                      </a:r>
                    </a:p>
                  </a:txBody>
                  <a:tcPr marL="16736" marR="16736" marT="8368" marB="836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00" b="0">
                          <a:effectLst/>
                        </a:rPr>
                        <a:t>原始波形</a:t>
                      </a:r>
                    </a:p>
                  </a:txBody>
                  <a:tcPr marL="16736" marR="16736" marT="8368" marB="836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00" b="0">
                          <a:effectLst/>
                        </a:rPr>
                        <a:t>相比</a:t>
                      </a:r>
                      <a:r>
                        <a:rPr lang="en-US" sz="1100" b="0">
                          <a:effectLst/>
                        </a:rPr>
                        <a:t>SoundStream，</a:t>
                      </a:r>
                      <a:r>
                        <a:rPr lang="zh-CN" altLang="en-US" sz="1100" b="0">
                          <a:effectLst/>
                        </a:rPr>
                        <a:t>提高了音频质量和序列建模能力。</a:t>
                      </a:r>
                    </a:p>
                  </a:txBody>
                  <a:tcPr marL="16736" marR="16736" marT="8368" marB="8368" anchor="ctr"/>
                </a:tc>
                <a:extLst>
                  <a:ext uri="{0D108BD9-81ED-4DB2-BD59-A6C34878D82A}">
                    <a16:rowId xmlns:a16="http://schemas.microsoft.com/office/drawing/2014/main" val="33873900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57976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0E6B8D-655A-2E3E-65D0-4C221006F1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6B20B7BB-7353-9977-4610-8277785CC414}"/>
              </a:ext>
            </a:extLst>
          </p:cNvPr>
          <p:cNvGraphicFramePr>
            <a:graphicFrameLocks noGrp="1"/>
          </p:cNvGraphicFramePr>
          <p:nvPr/>
        </p:nvGraphicFramePr>
        <p:xfrm>
          <a:off x="1759526" y="0"/>
          <a:ext cx="6109854" cy="690201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036618">
                  <a:extLst>
                    <a:ext uri="{9D8B030D-6E8A-4147-A177-3AD203B41FA5}">
                      <a16:colId xmlns:a16="http://schemas.microsoft.com/office/drawing/2014/main" val="1333211143"/>
                    </a:ext>
                  </a:extLst>
                </a:gridCol>
                <a:gridCol w="2036618">
                  <a:extLst>
                    <a:ext uri="{9D8B030D-6E8A-4147-A177-3AD203B41FA5}">
                      <a16:colId xmlns:a16="http://schemas.microsoft.com/office/drawing/2014/main" val="3474203890"/>
                    </a:ext>
                  </a:extLst>
                </a:gridCol>
                <a:gridCol w="2036618">
                  <a:extLst>
                    <a:ext uri="{9D8B030D-6E8A-4147-A177-3AD203B41FA5}">
                      <a16:colId xmlns:a16="http://schemas.microsoft.com/office/drawing/2014/main" val="1631937110"/>
                    </a:ext>
                  </a:extLst>
                </a:gridCol>
              </a:tblGrid>
              <a:tr h="139157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050" b="1">
                          <a:effectLst/>
                        </a:rPr>
                        <a:t>模型</a:t>
                      </a:r>
                    </a:p>
                  </a:txBody>
                  <a:tcPr marL="23145" marR="23145" marT="11573" marB="1157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050" b="1">
                          <a:effectLst/>
                        </a:rPr>
                        <a:t>目标类型</a:t>
                      </a:r>
                    </a:p>
                  </a:txBody>
                  <a:tcPr marL="23145" marR="23145" marT="11573" marB="1157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050" b="1">
                          <a:effectLst/>
                        </a:rPr>
                        <a:t>主要贡献</a:t>
                      </a:r>
                    </a:p>
                  </a:txBody>
                  <a:tcPr marL="23145" marR="23145" marT="11573" marB="11573" anchor="ctr"/>
                </a:tc>
                <a:extLst>
                  <a:ext uri="{0D108BD9-81ED-4DB2-BD59-A6C34878D82A}">
                    <a16:rowId xmlns:a16="http://schemas.microsoft.com/office/drawing/2014/main" val="2680691101"/>
                  </a:ext>
                </a:extLst>
              </a:tr>
              <a:tr h="566096">
                <a:tc>
                  <a:txBody>
                    <a:bodyPr/>
                    <a:lstStyle/>
                    <a:p>
                      <a:pPr algn="l"/>
                      <a:r>
                        <a:rPr lang="en-US" sz="1050" b="0">
                          <a:effectLst/>
                        </a:rPr>
                        <a:t>MS-CLAP [2]</a:t>
                      </a:r>
                    </a:p>
                  </a:txBody>
                  <a:tcPr marL="23145" marR="23145" marT="11573" marB="1157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050" b="0">
                          <a:effectLst/>
                        </a:rPr>
                        <a:t>对比学习</a:t>
                      </a:r>
                    </a:p>
                  </a:txBody>
                  <a:tcPr marL="23145" marR="23145" marT="11573" marB="1157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050" b="0">
                          <a:effectLst/>
                        </a:rPr>
                        <a:t>首次将对比学习（受</a:t>
                      </a:r>
                      <a:r>
                        <a:rPr lang="en-US" sz="1050" b="0">
                          <a:effectLst/>
                        </a:rPr>
                        <a:t>CLIP</a:t>
                      </a:r>
                      <a:r>
                        <a:rPr lang="zh-CN" altLang="en-US" sz="1050" b="0">
                          <a:effectLst/>
                        </a:rPr>
                        <a:t>启发）应用于音频</a:t>
                      </a:r>
                      <a:r>
                        <a:rPr lang="en-US" altLang="zh-CN" sz="1050" b="0">
                          <a:effectLst/>
                        </a:rPr>
                        <a:t>-</a:t>
                      </a:r>
                      <a:r>
                        <a:rPr lang="zh-CN" altLang="en-US" sz="1050" b="0">
                          <a:effectLst/>
                        </a:rPr>
                        <a:t>语言预训练。</a:t>
                      </a:r>
                    </a:p>
                  </a:txBody>
                  <a:tcPr marL="23145" marR="23145" marT="11573" marB="11573" anchor="ctr"/>
                </a:tc>
                <a:extLst>
                  <a:ext uri="{0D108BD9-81ED-4DB2-BD59-A6C34878D82A}">
                    <a16:rowId xmlns:a16="http://schemas.microsoft.com/office/drawing/2014/main" val="4179056504"/>
                  </a:ext>
                </a:extLst>
              </a:tr>
              <a:tr h="779566">
                <a:tc>
                  <a:txBody>
                    <a:bodyPr/>
                    <a:lstStyle/>
                    <a:p>
                      <a:pPr algn="l"/>
                      <a:r>
                        <a:rPr lang="en-US" sz="1050" b="0">
                          <a:effectLst/>
                        </a:rPr>
                        <a:t>LAION-CLAP [22]</a:t>
                      </a:r>
                    </a:p>
                  </a:txBody>
                  <a:tcPr marL="23145" marR="23145" marT="11573" marB="1157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050" b="0">
                          <a:effectLst/>
                        </a:rPr>
                        <a:t>对比学习</a:t>
                      </a:r>
                    </a:p>
                  </a:txBody>
                  <a:tcPr marL="23145" marR="23145" marT="11573" marB="1157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050" b="0">
                          <a:effectLst/>
                        </a:rPr>
                        <a:t>首个完全开源的</a:t>
                      </a:r>
                      <a:r>
                        <a:rPr lang="en-US" sz="1050" b="0">
                          <a:effectLst/>
                        </a:rPr>
                        <a:t>CLAP</a:t>
                      </a:r>
                      <a:r>
                        <a:rPr lang="zh-CN" altLang="en-US" sz="1050" b="0">
                          <a:effectLst/>
                        </a:rPr>
                        <a:t>模型，基于大规模数据集（</a:t>
                      </a:r>
                      <a:r>
                        <a:rPr lang="en-US" sz="1050" b="0">
                          <a:effectLst/>
                        </a:rPr>
                        <a:t>LAION-Audio-630K）</a:t>
                      </a:r>
                      <a:r>
                        <a:rPr lang="zh-CN" altLang="en-US" sz="1050" b="0">
                          <a:effectLst/>
                        </a:rPr>
                        <a:t>进行训练。</a:t>
                      </a:r>
                    </a:p>
                  </a:txBody>
                  <a:tcPr marL="23145" marR="23145" marT="11573" marB="11573" anchor="ctr"/>
                </a:tc>
                <a:extLst>
                  <a:ext uri="{0D108BD9-81ED-4DB2-BD59-A6C34878D82A}">
                    <a16:rowId xmlns:a16="http://schemas.microsoft.com/office/drawing/2014/main" val="3094500589"/>
                  </a:ext>
                </a:extLst>
              </a:tr>
              <a:tr h="459362">
                <a:tc>
                  <a:txBody>
                    <a:bodyPr/>
                    <a:lstStyle/>
                    <a:p>
                      <a:pPr algn="l"/>
                      <a:r>
                        <a:rPr lang="en-US" sz="1050" b="0">
                          <a:effectLst/>
                        </a:rPr>
                        <a:t>MS-CLAP V2 [50]</a:t>
                      </a:r>
                    </a:p>
                  </a:txBody>
                  <a:tcPr marL="23145" marR="23145" marT="11573" marB="1157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050" b="0">
                          <a:effectLst/>
                        </a:rPr>
                        <a:t>对比学习</a:t>
                      </a:r>
                    </a:p>
                  </a:txBody>
                  <a:tcPr marL="23145" marR="23145" marT="11573" marB="1157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050" b="0">
                          <a:effectLst/>
                        </a:rPr>
                        <a:t>使用更强大的音频编码器和更大的数据集进行扩展训练。</a:t>
                      </a:r>
                    </a:p>
                  </a:txBody>
                  <a:tcPr marL="23145" marR="23145" marT="11573" marB="11573" anchor="ctr"/>
                </a:tc>
                <a:extLst>
                  <a:ext uri="{0D108BD9-81ED-4DB2-BD59-A6C34878D82A}">
                    <a16:rowId xmlns:a16="http://schemas.microsoft.com/office/drawing/2014/main" val="3689526207"/>
                  </a:ext>
                </a:extLst>
              </a:tr>
              <a:tr h="459362">
                <a:tc>
                  <a:txBody>
                    <a:bodyPr/>
                    <a:lstStyle/>
                    <a:p>
                      <a:pPr algn="l"/>
                      <a:r>
                        <a:rPr lang="en-US" sz="1050" b="0">
                          <a:effectLst/>
                        </a:rPr>
                        <a:t>BLAT [73]</a:t>
                      </a:r>
                    </a:p>
                  </a:txBody>
                  <a:tcPr marL="23145" marR="23145" marT="11573" marB="1157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050" b="0">
                          <a:effectLst/>
                        </a:rPr>
                        <a:t>对比学习</a:t>
                      </a:r>
                    </a:p>
                  </a:txBody>
                  <a:tcPr marL="23145" marR="23145" marT="11573" marB="1157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050" b="0">
                          <a:effectLst/>
                        </a:rPr>
                        <a:t>使用音频描述模型生成合成的音频</a:t>
                      </a:r>
                      <a:r>
                        <a:rPr lang="en-US" altLang="zh-CN" sz="1050" b="0">
                          <a:effectLst/>
                        </a:rPr>
                        <a:t>-</a:t>
                      </a:r>
                      <a:r>
                        <a:rPr lang="zh-CN" altLang="en-US" sz="1050" b="0">
                          <a:effectLst/>
                        </a:rPr>
                        <a:t>文本对用于训练。</a:t>
                      </a:r>
                    </a:p>
                  </a:txBody>
                  <a:tcPr marL="23145" marR="23145" marT="11573" marB="11573" anchor="ctr"/>
                </a:tc>
                <a:extLst>
                  <a:ext uri="{0D108BD9-81ED-4DB2-BD59-A6C34878D82A}">
                    <a16:rowId xmlns:a16="http://schemas.microsoft.com/office/drawing/2014/main" val="4106000089"/>
                  </a:ext>
                </a:extLst>
              </a:tr>
              <a:tr h="459362">
                <a:tc>
                  <a:txBody>
                    <a:bodyPr/>
                    <a:lstStyle/>
                    <a:p>
                      <a:pPr algn="l"/>
                      <a:r>
                        <a:rPr lang="en-US" sz="1050" b="0">
                          <a:effectLst/>
                        </a:rPr>
                        <a:t>ACBA [74]</a:t>
                      </a:r>
                    </a:p>
                  </a:txBody>
                  <a:tcPr marL="23145" marR="23145" marT="11573" marB="1157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050" b="0">
                          <a:effectLst/>
                        </a:rPr>
                        <a:t>对比学习</a:t>
                      </a:r>
                    </a:p>
                  </a:txBody>
                  <a:tcPr marL="23145" marR="23145" marT="11573" marB="1157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050" b="0">
                          <a:effectLst/>
                        </a:rPr>
                        <a:t>增强了对描述文本中声音事件序列关系的建模。</a:t>
                      </a:r>
                    </a:p>
                  </a:txBody>
                  <a:tcPr marL="23145" marR="23145" marT="11573" marB="11573" anchor="ctr"/>
                </a:tc>
                <a:extLst>
                  <a:ext uri="{0D108BD9-81ED-4DB2-BD59-A6C34878D82A}">
                    <a16:rowId xmlns:a16="http://schemas.microsoft.com/office/drawing/2014/main" val="4068576731"/>
                  </a:ext>
                </a:extLst>
              </a:tr>
              <a:tr h="459362">
                <a:tc>
                  <a:txBody>
                    <a:bodyPr/>
                    <a:lstStyle/>
                    <a:p>
                      <a:pPr algn="l"/>
                      <a:r>
                        <a:rPr lang="en-US" sz="1050" b="0">
                          <a:effectLst/>
                        </a:rPr>
                        <a:t>COMPA [26]</a:t>
                      </a:r>
                    </a:p>
                  </a:txBody>
                  <a:tcPr marL="23145" marR="23145" marT="11573" marB="1157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050" b="0">
                          <a:effectLst/>
                        </a:rPr>
                        <a:t>对比学习</a:t>
                      </a:r>
                    </a:p>
                  </a:txBody>
                  <a:tcPr marL="23145" marR="23145" marT="11573" marB="1157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050" b="0">
                          <a:effectLst/>
                        </a:rPr>
                        <a:t>通过使用组合感知的负样本，提升了组合推理能力。</a:t>
                      </a:r>
                    </a:p>
                  </a:txBody>
                  <a:tcPr marL="23145" marR="23145" marT="11573" marB="11573" anchor="ctr"/>
                </a:tc>
                <a:extLst>
                  <a:ext uri="{0D108BD9-81ED-4DB2-BD59-A6C34878D82A}">
                    <a16:rowId xmlns:a16="http://schemas.microsoft.com/office/drawing/2014/main" val="1485228125"/>
                  </a:ext>
                </a:extLst>
              </a:tr>
              <a:tr h="459362">
                <a:tc>
                  <a:txBody>
                    <a:bodyPr/>
                    <a:lstStyle/>
                    <a:p>
                      <a:pPr algn="l"/>
                      <a:r>
                        <a:rPr lang="en-US" sz="1050" b="0">
                          <a:effectLst/>
                        </a:rPr>
                        <a:t>MGA-CLAP [75]</a:t>
                      </a:r>
                    </a:p>
                  </a:txBody>
                  <a:tcPr marL="23145" marR="23145" marT="11573" marB="1157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050" b="0">
                          <a:effectLst/>
                        </a:rPr>
                        <a:t>对比学习</a:t>
                      </a:r>
                    </a:p>
                  </a:txBody>
                  <a:tcPr marL="23145" marR="23145" marT="11573" marB="1157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050" b="0">
                          <a:effectLst/>
                        </a:rPr>
                        <a:t>利用共享码本实现了音频和文本之间的细粒度对齐。</a:t>
                      </a:r>
                    </a:p>
                  </a:txBody>
                  <a:tcPr marL="23145" marR="23145" marT="11573" marB="11573" anchor="ctr"/>
                </a:tc>
                <a:extLst>
                  <a:ext uri="{0D108BD9-81ED-4DB2-BD59-A6C34878D82A}">
                    <a16:rowId xmlns:a16="http://schemas.microsoft.com/office/drawing/2014/main" val="3807207354"/>
                  </a:ext>
                </a:extLst>
              </a:tr>
              <a:tr h="459362">
                <a:tc>
                  <a:txBody>
                    <a:bodyPr/>
                    <a:lstStyle/>
                    <a:p>
                      <a:pPr algn="l"/>
                      <a:r>
                        <a:rPr lang="en-US" sz="1050" b="0">
                          <a:effectLst/>
                        </a:rPr>
                        <a:t>MusCALL [76]</a:t>
                      </a:r>
                    </a:p>
                  </a:txBody>
                  <a:tcPr marL="23145" marR="23145" marT="11573" marB="1157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050" b="0">
                          <a:effectLst/>
                        </a:rPr>
                        <a:t>对比学习</a:t>
                      </a:r>
                    </a:p>
                  </a:txBody>
                  <a:tcPr marL="23145" marR="23145" marT="11573" marB="1157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050" b="0">
                          <a:effectLst/>
                        </a:rPr>
                        <a:t>专门针对音乐领域任务进行预训练，以实现高性能。</a:t>
                      </a:r>
                    </a:p>
                  </a:txBody>
                  <a:tcPr marL="23145" marR="23145" marT="11573" marB="11573" anchor="ctr"/>
                </a:tc>
                <a:extLst>
                  <a:ext uri="{0D108BD9-81ED-4DB2-BD59-A6C34878D82A}">
                    <a16:rowId xmlns:a16="http://schemas.microsoft.com/office/drawing/2014/main" val="85547683"/>
                  </a:ext>
                </a:extLst>
              </a:tr>
              <a:tr h="566096">
                <a:tc>
                  <a:txBody>
                    <a:bodyPr/>
                    <a:lstStyle/>
                    <a:p>
                      <a:pPr algn="l"/>
                      <a:r>
                        <a:rPr lang="en-US" sz="1050" b="0">
                          <a:effectLst/>
                        </a:rPr>
                        <a:t>CTAL [28]</a:t>
                      </a:r>
                    </a:p>
                  </a:txBody>
                  <a:tcPr marL="23145" marR="23145" marT="11573" marB="1157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050" b="0">
                          <a:effectLst/>
                        </a:rPr>
                        <a:t>生成式</a:t>
                      </a:r>
                    </a:p>
                  </a:txBody>
                  <a:tcPr marL="23145" marR="23145" marT="11573" marB="1157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050" b="0">
                          <a:effectLst/>
                        </a:rPr>
                        <a:t>通过掩码语言和声学建模对生成式预训练进行了早期探索。</a:t>
                      </a:r>
                    </a:p>
                  </a:txBody>
                  <a:tcPr marL="23145" marR="23145" marT="11573" marB="11573" anchor="ctr"/>
                </a:tc>
                <a:extLst>
                  <a:ext uri="{0D108BD9-81ED-4DB2-BD59-A6C34878D82A}">
                    <a16:rowId xmlns:a16="http://schemas.microsoft.com/office/drawing/2014/main" val="2069083682"/>
                  </a:ext>
                </a:extLst>
              </a:tr>
              <a:tr h="459362">
                <a:tc>
                  <a:txBody>
                    <a:bodyPr/>
                    <a:lstStyle/>
                    <a:p>
                      <a:pPr algn="l"/>
                      <a:r>
                        <a:rPr lang="en-US" sz="1050" b="0">
                          <a:effectLst/>
                        </a:rPr>
                        <a:t>FLAP [77]</a:t>
                      </a:r>
                    </a:p>
                  </a:txBody>
                  <a:tcPr marL="23145" marR="23145" marT="11573" marB="1157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050" b="0">
                          <a:effectLst/>
                        </a:rPr>
                        <a:t>对比学习 </a:t>
                      </a:r>
                      <a:r>
                        <a:rPr lang="en-US" altLang="zh-CN" sz="1050" b="0">
                          <a:effectLst/>
                        </a:rPr>
                        <a:t>+ </a:t>
                      </a:r>
                      <a:r>
                        <a:rPr lang="zh-CN" altLang="en-US" sz="1050" b="0">
                          <a:effectLst/>
                        </a:rPr>
                        <a:t>生成式</a:t>
                      </a:r>
                    </a:p>
                  </a:txBody>
                  <a:tcPr marL="23145" marR="23145" marT="11573" marB="1157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050" b="0">
                          <a:effectLst/>
                        </a:rPr>
                        <a:t>将掩码重建（为提升效率）与对比学习相结合。</a:t>
                      </a:r>
                    </a:p>
                  </a:txBody>
                  <a:tcPr marL="23145" marR="23145" marT="11573" marB="11573" anchor="ctr"/>
                </a:tc>
                <a:extLst>
                  <a:ext uri="{0D108BD9-81ED-4DB2-BD59-A6C34878D82A}">
                    <a16:rowId xmlns:a16="http://schemas.microsoft.com/office/drawing/2014/main" val="2287689975"/>
                  </a:ext>
                </a:extLst>
              </a:tr>
              <a:tr h="566096">
                <a:tc>
                  <a:txBody>
                    <a:bodyPr/>
                    <a:lstStyle/>
                    <a:p>
                      <a:pPr algn="l"/>
                      <a:r>
                        <a:rPr lang="en-US" sz="1050" b="0">
                          <a:effectLst/>
                        </a:rPr>
                        <a:t>M2D-CLAP [78]</a:t>
                      </a:r>
                    </a:p>
                  </a:txBody>
                  <a:tcPr marL="23145" marR="23145" marT="11573" marB="1157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050" b="0">
                          <a:effectLst/>
                        </a:rPr>
                        <a:t>对比学习 </a:t>
                      </a:r>
                      <a:r>
                        <a:rPr lang="en-US" altLang="zh-CN" sz="1050" b="0">
                          <a:effectLst/>
                        </a:rPr>
                        <a:t>+ </a:t>
                      </a:r>
                      <a:r>
                        <a:rPr lang="zh-CN" altLang="en-US" sz="1050" b="0">
                          <a:effectLst/>
                        </a:rPr>
                        <a:t>生成式</a:t>
                      </a:r>
                    </a:p>
                  </a:txBody>
                  <a:tcPr marL="23145" marR="23145" marT="11573" marB="1157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050" b="0">
                          <a:effectLst/>
                        </a:rPr>
                        <a:t>将掩码建模二人组（</a:t>
                      </a:r>
                      <a:r>
                        <a:rPr lang="en-US" sz="1050" b="0">
                          <a:effectLst/>
                        </a:rPr>
                        <a:t>M2D）</a:t>
                      </a:r>
                      <a:r>
                        <a:rPr lang="zh-CN" altLang="en-US" sz="1050" b="0">
                          <a:effectLst/>
                        </a:rPr>
                        <a:t>与对比学习结合，以获得更好的音频编码。</a:t>
                      </a:r>
                    </a:p>
                  </a:txBody>
                  <a:tcPr marL="23145" marR="23145" marT="11573" marB="11573" anchor="ctr"/>
                </a:tc>
                <a:extLst>
                  <a:ext uri="{0D108BD9-81ED-4DB2-BD59-A6C34878D82A}">
                    <a16:rowId xmlns:a16="http://schemas.microsoft.com/office/drawing/2014/main" val="792920636"/>
                  </a:ext>
                </a:extLst>
              </a:tr>
              <a:tr h="566096">
                <a:tc>
                  <a:txBody>
                    <a:bodyPr/>
                    <a:lstStyle/>
                    <a:p>
                      <a:pPr algn="l"/>
                      <a:r>
                        <a:rPr lang="en-US" sz="1050" b="0">
                          <a:effectLst/>
                        </a:rPr>
                        <a:t>Cacophony [79]</a:t>
                      </a:r>
                    </a:p>
                  </a:txBody>
                  <a:tcPr marL="23145" marR="23145" marT="11573" marB="1157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050" b="0">
                          <a:effectLst/>
                        </a:rPr>
                        <a:t>对比学习 </a:t>
                      </a:r>
                      <a:r>
                        <a:rPr lang="en-US" altLang="zh-CN" sz="1050" b="0">
                          <a:effectLst/>
                        </a:rPr>
                        <a:t>+ </a:t>
                      </a:r>
                      <a:r>
                        <a:rPr lang="zh-CN" altLang="en-US" sz="1050" b="0">
                          <a:effectLst/>
                        </a:rPr>
                        <a:t>生成式</a:t>
                      </a:r>
                    </a:p>
                  </a:txBody>
                  <a:tcPr marL="23145" marR="23145" marT="11573" marB="1157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050" b="0">
                          <a:effectLst/>
                        </a:rPr>
                        <a:t>在</a:t>
                      </a:r>
                      <a:r>
                        <a:rPr lang="en-US" sz="1050" b="0">
                          <a:effectLst/>
                        </a:rPr>
                        <a:t>CLAP</a:t>
                      </a:r>
                      <a:r>
                        <a:rPr lang="zh-CN" altLang="en-US" sz="1050" b="0">
                          <a:effectLst/>
                        </a:rPr>
                        <a:t>中增加了辅助的描述生成目标，以捕捉更细粒度的音频细节。</a:t>
                      </a:r>
                    </a:p>
                  </a:txBody>
                  <a:tcPr marL="23145" marR="23145" marT="11573" marB="11573" anchor="ctr"/>
                </a:tc>
                <a:extLst>
                  <a:ext uri="{0D108BD9-81ED-4DB2-BD59-A6C34878D82A}">
                    <a16:rowId xmlns:a16="http://schemas.microsoft.com/office/drawing/2014/main" val="2520779405"/>
                  </a:ext>
                </a:extLst>
              </a:tr>
              <a:tr h="459362">
                <a:tc>
                  <a:txBody>
                    <a:bodyPr/>
                    <a:lstStyle/>
                    <a:p>
                      <a:pPr algn="l"/>
                      <a:r>
                        <a:rPr lang="en-US" sz="1050" b="0">
                          <a:effectLst/>
                        </a:rPr>
                        <a:t>MINT [34]</a:t>
                      </a:r>
                    </a:p>
                  </a:txBody>
                  <a:tcPr marL="23145" marR="23145" marT="11573" marB="1157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050" b="0">
                          <a:effectLst/>
                        </a:rPr>
                        <a:t>对比学习 </a:t>
                      </a:r>
                      <a:r>
                        <a:rPr lang="en-US" altLang="zh-CN" sz="1050" b="0">
                          <a:effectLst/>
                        </a:rPr>
                        <a:t>+ </a:t>
                      </a:r>
                      <a:r>
                        <a:rPr lang="zh-CN" altLang="en-US" sz="1050" b="0">
                          <a:effectLst/>
                        </a:rPr>
                        <a:t>生成式 </a:t>
                      </a:r>
                      <a:r>
                        <a:rPr lang="en-US" altLang="zh-CN" sz="1050" b="0">
                          <a:effectLst/>
                        </a:rPr>
                        <a:t>+ </a:t>
                      </a:r>
                      <a:r>
                        <a:rPr lang="zh-CN" altLang="en-US" sz="1050" b="0">
                          <a:effectLst/>
                        </a:rPr>
                        <a:t>判别式</a:t>
                      </a:r>
                    </a:p>
                  </a:txBody>
                  <a:tcPr marL="23145" marR="23145" marT="11573" marB="1157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050" b="0">
                          <a:effectLst/>
                        </a:rPr>
                        <a:t>一个结合了对比、生成和匹配任务的多目标框架。</a:t>
                      </a:r>
                    </a:p>
                  </a:txBody>
                  <a:tcPr marL="23145" marR="23145" marT="11573" marB="11573" anchor="ctr"/>
                </a:tc>
                <a:extLst>
                  <a:ext uri="{0D108BD9-81ED-4DB2-BD59-A6C34878D82A}">
                    <a16:rowId xmlns:a16="http://schemas.microsoft.com/office/drawing/2014/main" val="10125944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03040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8B25E7-2550-A312-C2B0-FE2A419FC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3E85638B-4235-FFDB-12B6-5EA9F51350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5943" y="1722245"/>
            <a:ext cx="9270462" cy="4949776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7555FEA3-D9DC-3BDD-FE7A-90B9C22B8108}"/>
              </a:ext>
            </a:extLst>
          </p:cNvPr>
          <p:cNvSpPr txBox="1"/>
          <p:nvPr/>
        </p:nvSpPr>
        <p:spPr>
          <a:xfrm>
            <a:off x="1468582" y="457200"/>
            <a:ext cx="97417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0" i="0">
                <a:effectLst/>
                <a:latin typeface="Ubuntu" panose="020B0504030602030204" pitchFamily="34" charset="0"/>
              </a:rPr>
              <a:t>MGA-CLAP</a:t>
            </a:r>
            <a:r>
              <a:rPr lang="zh-CN" altLang="en-US" b="0" i="0">
                <a:effectLst/>
                <a:latin typeface="Ubuntu" panose="020B0504030602030204" pitchFamily="34" charset="0"/>
              </a:rPr>
              <a:t>（</a:t>
            </a:r>
            <a:r>
              <a:rPr lang="en-US" altLang="zh-CN" b="0" i="0">
                <a:effectLst/>
                <a:latin typeface="Ubuntu" panose="020B0504030602030204" pitchFamily="34" charset="0"/>
              </a:rPr>
              <a:t>Advancing Multi-grained Alignment for Contrastive Language-Audio Pre-training, ACM MM’24</a:t>
            </a:r>
            <a:r>
              <a:rPr lang="zh-CN" altLang="en-US" b="0" i="0">
                <a:effectLst/>
                <a:latin typeface="Ubuntu" panose="020B0504030602030204" pitchFamily="34" charset="0"/>
              </a:rPr>
              <a:t>）</a:t>
            </a:r>
            <a:endParaRPr kumimoji="1"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95FD7B7-FCAE-24D6-5AC8-B674872D1F4F}"/>
              </a:ext>
            </a:extLst>
          </p:cNvPr>
          <p:cNvSpPr txBox="1"/>
          <p:nvPr/>
        </p:nvSpPr>
        <p:spPr>
          <a:xfrm>
            <a:off x="2015835" y="1103531"/>
            <a:ext cx="836319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>
                <a:latin typeface="Ubuntu" panose="020B0504030602030204" pitchFamily="34" charset="0"/>
              </a:rPr>
              <a:t>现</a:t>
            </a:r>
            <a:r>
              <a:rPr lang="zh-CN" altLang="en-US" b="0" i="0">
                <a:effectLst/>
                <a:latin typeface="Ubuntu" panose="020B0504030602030204" pitchFamily="34" charset="0"/>
              </a:rPr>
              <a:t>有</a:t>
            </a:r>
            <a:r>
              <a:rPr lang="en-US" altLang="zh-CN" b="0" i="0">
                <a:effectLst/>
                <a:latin typeface="Ubuntu" panose="020B0504030602030204" pitchFamily="34" charset="0"/>
              </a:rPr>
              <a:t>CLAP</a:t>
            </a:r>
            <a:r>
              <a:rPr lang="zh-CN" altLang="en-US" b="0" i="0">
                <a:effectLst/>
                <a:latin typeface="Ubuntu" panose="020B0504030602030204" pitchFamily="34" charset="0"/>
              </a:rPr>
              <a:t>多用全局对比，忽视帧</a:t>
            </a:r>
            <a:r>
              <a:rPr lang="en-US" altLang="zh-CN" b="0" i="0">
                <a:effectLst/>
                <a:latin typeface="Ubuntu" panose="020B0504030602030204" pitchFamily="34" charset="0"/>
              </a:rPr>
              <a:t>-</a:t>
            </a:r>
            <a:r>
              <a:rPr lang="zh-CN" altLang="en-US" b="0" i="0">
                <a:effectLst/>
                <a:latin typeface="Ubuntu" panose="020B0504030602030204" pitchFamily="34" charset="0"/>
              </a:rPr>
              <a:t>词细粒度对应 → 可解释性与细粒度任务（零样本事件检测</a:t>
            </a:r>
            <a:r>
              <a:rPr lang="en-US" altLang="zh-CN" b="0" i="0">
                <a:effectLst/>
                <a:latin typeface="Ubuntu" panose="020B0504030602030204" pitchFamily="34" charset="0"/>
              </a:rPr>
              <a:t>/</a:t>
            </a:r>
            <a:r>
              <a:rPr lang="zh-CN" altLang="en-US" b="0" i="0">
                <a:effectLst/>
                <a:latin typeface="Ubuntu" panose="020B0504030602030204" pitchFamily="34" charset="0"/>
              </a:rPr>
              <a:t>对齐）受限，也影响粗粒度检索</a:t>
            </a:r>
            <a:r>
              <a:rPr lang="en-US" altLang="zh-CN" b="0" i="0">
                <a:effectLst/>
                <a:latin typeface="Ubuntu" panose="020B0504030602030204" pitchFamily="34" charset="0"/>
              </a:rPr>
              <a:t>/</a:t>
            </a:r>
            <a:r>
              <a:rPr lang="zh-CN" altLang="en-US" b="0" i="0">
                <a:effectLst/>
                <a:latin typeface="Ubuntu" panose="020B0504030602030204" pitchFamily="34" charset="0"/>
              </a:rPr>
              <a:t>分类</a:t>
            </a:r>
          </a:p>
        </p:txBody>
      </p:sp>
    </p:spTree>
    <p:extLst>
      <p:ext uri="{BB962C8B-B14F-4D97-AF65-F5344CB8AC3E}">
        <p14:creationId xmlns:p14="http://schemas.microsoft.com/office/powerpoint/2010/main" val="20268043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FFEE7B-9652-0592-A40E-0C2B0BAD8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5802ADF9-DC9E-94F0-50AC-86A95C84E1E9}"/>
              </a:ext>
            </a:extLst>
          </p:cNvPr>
          <p:cNvSpPr txBox="1"/>
          <p:nvPr/>
        </p:nvSpPr>
        <p:spPr>
          <a:xfrm>
            <a:off x="1908464" y="2239349"/>
            <a:ext cx="837507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>
                <a:effectLst/>
                <a:latin typeface="Ubuntu" panose="020B0504030602030204" pitchFamily="34" charset="0"/>
              </a:rPr>
              <a:t>共享模态代码本（</a:t>
            </a:r>
            <a:r>
              <a:rPr lang="en-US" altLang="zh-CN" b="0" i="0">
                <a:effectLst/>
                <a:latin typeface="Ubuntu" panose="020B0504030602030204" pitchFamily="34" charset="0"/>
              </a:rPr>
              <a:t>Codebook</a:t>
            </a:r>
            <a:r>
              <a:rPr lang="zh-CN" altLang="en-US" b="0" i="0">
                <a:effectLst/>
                <a:latin typeface="Ubuntu" panose="020B0504030602030204" pitchFamily="34" charset="0"/>
              </a:rPr>
              <a:t>）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altLang="zh-CN" b="0" i="0">
                <a:effectLst/>
                <a:latin typeface="Ubuntu" panose="020B0504030602030204" pitchFamily="34" charset="0"/>
              </a:rPr>
              <a:t>K=4096</a:t>
            </a:r>
            <a:r>
              <a:rPr lang="zh-CN" altLang="en-US" b="0" i="0">
                <a:effectLst/>
                <a:latin typeface="Ubuntu" panose="020B0504030602030204" pitchFamily="34" charset="0"/>
              </a:rPr>
              <a:t>可学习码词，音频帧</a:t>
            </a:r>
            <a:r>
              <a:rPr lang="en-US" altLang="zh-CN" b="0" i="0">
                <a:effectLst/>
                <a:latin typeface="Ubuntu" panose="020B0504030602030204" pitchFamily="34" charset="0"/>
              </a:rPr>
              <a:t>/</a:t>
            </a:r>
            <a:r>
              <a:rPr lang="zh-CN" altLang="en-US" b="0" i="0">
                <a:effectLst/>
                <a:latin typeface="Ubuntu" panose="020B0504030602030204" pitchFamily="34" charset="0"/>
              </a:rPr>
              <a:t>文本词与码词做最大相似度匹配；</a:t>
            </a:r>
            <a:r>
              <a:rPr lang="en-US" altLang="zh-CN" b="0" i="0">
                <a:effectLst/>
                <a:latin typeface="Ubuntu" panose="020B0504030602030204" pitchFamily="34" charset="0"/>
              </a:rPr>
              <a:t>Sparsemax</a:t>
            </a:r>
            <a:r>
              <a:rPr lang="zh-CN" altLang="en-US" b="0" i="0">
                <a:effectLst/>
                <a:latin typeface="Ubuntu" panose="020B0504030602030204" pitchFamily="34" charset="0"/>
              </a:rPr>
              <a:t>稀疏加权汇聚成全局表示（</a:t>
            </a:r>
            <a:r>
              <a:rPr lang="en-US" altLang="zh-CN" b="0" i="0">
                <a:effectLst/>
                <a:latin typeface="Ubuntu" panose="020B0504030602030204" pitchFamily="34" charset="0"/>
              </a:rPr>
              <a:t>D=1024</a:t>
            </a:r>
            <a:r>
              <a:rPr lang="zh-CN" altLang="en-US" b="0" i="0">
                <a:effectLst/>
                <a:latin typeface="Ubuntu" panose="020B0504030602030204" pitchFamily="34" charset="0"/>
              </a:rPr>
              <a:t>）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zh-CN" altLang="en-US" b="0" i="0">
                <a:effectLst/>
                <a:latin typeface="Ubuntu" panose="020B0504030602030204" pitchFamily="34" charset="0"/>
              </a:rPr>
              <a:t>隐式对齐相同语义的帧与词，提升细粒度对齐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>
                <a:effectLst/>
                <a:latin typeface="Ubuntu" panose="020B0504030602030204" pitchFamily="34" charset="0"/>
              </a:rPr>
              <a:t>局部感知块（</a:t>
            </a:r>
            <a:r>
              <a:rPr lang="en-US" altLang="zh-CN" b="0" i="0">
                <a:effectLst/>
                <a:latin typeface="Ubuntu" panose="020B0504030602030204" pitchFamily="34" charset="0"/>
              </a:rPr>
              <a:t>Locality-aware block</a:t>
            </a:r>
            <a:r>
              <a:rPr lang="zh-CN" altLang="en-US" b="0" i="0">
                <a:effectLst/>
                <a:latin typeface="Ubuntu" panose="020B0504030602030204" pitchFamily="34" charset="0"/>
              </a:rPr>
              <a:t>）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zh-CN" altLang="en-US" b="0" i="0">
                <a:effectLst/>
                <a:latin typeface="Ubuntu" panose="020B0504030602030204" pitchFamily="34" charset="0"/>
              </a:rPr>
              <a:t>替换音频编码器最后一层自注意力，去掉</a:t>
            </a:r>
            <a:r>
              <a:rPr lang="en-US" altLang="zh-CN" b="0" i="0">
                <a:effectLst/>
                <a:latin typeface="Ubuntu" panose="020B0504030602030204" pitchFamily="34" charset="0"/>
              </a:rPr>
              <a:t>QK</a:t>
            </a:r>
            <a:r>
              <a:rPr lang="zh-CN" altLang="en-US" b="0" i="0">
                <a:effectLst/>
                <a:latin typeface="Ubuntu" panose="020B0504030602030204" pitchFamily="34" charset="0"/>
              </a:rPr>
              <a:t>，仅用</a:t>
            </a:r>
            <a:r>
              <a:rPr lang="en-US" altLang="zh-CN" b="0" i="0">
                <a:effectLst/>
                <a:latin typeface="Ubuntu" panose="020B0504030602030204" pitchFamily="34" charset="0"/>
              </a:rPr>
              <a:t>V</a:t>
            </a:r>
            <a:r>
              <a:rPr lang="zh-CN" altLang="en-US" b="0" i="0">
                <a:effectLst/>
                <a:latin typeface="Ubuntu" panose="020B0504030602030204" pitchFamily="34" charset="0"/>
              </a:rPr>
              <a:t>投影，保留局部模式，减少全局混杂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>
                <a:effectLst/>
                <a:latin typeface="Ubuntu" panose="020B0504030602030204" pitchFamily="34" charset="0"/>
              </a:rPr>
              <a:t>硬负例引导对比损失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zh-CN" altLang="en-US" b="0" i="0">
                <a:effectLst/>
                <a:latin typeface="Ubuntu" panose="020B0504030602030204" pitchFamily="34" charset="0"/>
              </a:rPr>
              <a:t>对批内高相似度负例加权（</a:t>
            </a:r>
            <a:r>
              <a:rPr lang="el-GR" altLang="zh-CN" b="0" i="0">
                <a:effectLst/>
                <a:latin typeface="Ubuntu" panose="020B0504030602030204" pitchFamily="34" charset="0"/>
              </a:rPr>
              <a:t>γ≈0.10–0.15</a:t>
            </a:r>
            <a:r>
              <a:rPr lang="zh-CN" altLang="el-GR" b="0" i="0">
                <a:effectLst/>
                <a:latin typeface="Ubuntu" panose="020B0504030602030204" pitchFamily="34" charset="0"/>
              </a:rPr>
              <a:t>），</a:t>
            </a:r>
            <a:r>
              <a:rPr lang="zh-CN" altLang="en-US" b="0" i="0">
                <a:effectLst/>
                <a:latin typeface="Ubuntu" panose="020B0504030602030204" pitchFamily="34" charset="0"/>
              </a:rPr>
              <a:t>提升判别性与对齐质量</a:t>
            </a:r>
          </a:p>
        </p:txBody>
      </p:sp>
    </p:spTree>
    <p:extLst>
      <p:ext uri="{BB962C8B-B14F-4D97-AF65-F5344CB8AC3E}">
        <p14:creationId xmlns:p14="http://schemas.microsoft.com/office/powerpoint/2010/main" val="328478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BCB821E9-2614-39F8-5290-ADA588743B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539" y="64736"/>
            <a:ext cx="6748939" cy="6858000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51906179-96C5-4337-96AD-99F4A84649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2479" y="64736"/>
            <a:ext cx="4959962" cy="2031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60546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DA533524-F663-39BC-CED8-FD6A9F5237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207" y="352172"/>
            <a:ext cx="4588469" cy="277135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3517FD28-0FBB-3FF5-52D3-472673C08A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1596" y="309689"/>
            <a:ext cx="6170851" cy="4969206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171AD232-9682-17E1-C750-F218290CAB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207" y="3348620"/>
            <a:ext cx="5197497" cy="2550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9873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91CE47-B7F5-43EB-2E59-53FD9CCA8B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E6D16D93-3013-CA5A-AAF6-B8E55BB604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7180" y="0"/>
            <a:ext cx="607763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77658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8DD584-A196-E8E8-2903-2BE02D396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547FEE49-68F4-A70B-1A72-0DA64D2EC5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965069"/>
            <a:ext cx="7772400" cy="4927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1367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70A00B-0892-1155-5469-B67D42D16B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769F35EA-98C7-1F0E-5325-7AE0156C6A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1594" y="0"/>
            <a:ext cx="632881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842136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CA7410-0DF1-5798-C6E3-1B03FDA253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D5D26C5D-B8BF-D36A-3771-502D699275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346" y="0"/>
            <a:ext cx="7429500" cy="685800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0A27D91F-C1A2-47DE-F513-98233A8579BB}"/>
              </a:ext>
            </a:extLst>
          </p:cNvPr>
          <p:cNvSpPr txBox="1"/>
          <p:nvPr/>
        </p:nvSpPr>
        <p:spPr>
          <a:xfrm>
            <a:off x="7884846" y="2178209"/>
            <a:ext cx="60973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/>
              <a:t>12.5 Hz (80ms per token)</a:t>
            </a:r>
            <a:br>
              <a:rPr lang="en-US" altLang="zh-CN"/>
            </a:br>
            <a:r>
              <a:rPr lang="en-US" altLang="zh-CN"/>
              <a:t>40 minutes of audio = 30,000 tokens 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871383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18E100-24EA-4872-A859-F14CC65CB4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C8FC2766-A7C5-4EC3-38FA-84714E6E9E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2047" y="0"/>
            <a:ext cx="438790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21435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F5AF46-A68C-7AEA-3CCA-9F2667BD7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187022AF-D659-A3F1-7F2E-4F0CADD47D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682" y="164660"/>
            <a:ext cx="5062242" cy="3462354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97FF7E6C-BC3E-FFDD-01F8-7FA1669B69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682" y="3705116"/>
            <a:ext cx="3851489" cy="298822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607BF08F-1017-A78D-0621-49A7093911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1791" y="364140"/>
            <a:ext cx="4531805" cy="4875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115439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74D4F-2382-59D6-756E-768D0F043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3042B0B1-4C06-E616-D65E-E081509424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890" y="288462"/>
            <a:ext cx="7772400" cy="6005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386380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547D9B-D5BF-C2A2-B1B0-86B7E95E2C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001208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FCD053-202C-9846-0F2F-DAADE754E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41184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17279</TotalTime>
  <Words>2735</Words>
  <Application>Microsoft Macintosh PowerPoint</Application>
  <PresentationFormat>宽屏</PresentationFormat>
  <Paragraphs>369</Paragraphs>
  <Slides>35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35</vt:i4>
      </vt:variant>
    </vt:vector>
  </HeadingPairs>
  <TitlesOfParts>
    <vt:vector size="40" baseType="lpstr">
      <vt:lpstr>等线</vt:lpstr>
      <vt:lpstr>等线 Light</vt:lpstr>
      <vt:lpstr>Arial</vt:lpstr>
      <vt:lpstr>Ubuntu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kuhn xx</dc:creator>
  <cp:lastModifiedBy>kuhn xx</cp:lastModifiedBy>
  <cp:revision>3</cp:revision>
  <dcterms:created xsi:type="dcterms:W3CDTF">2025-09-25T08:35:55Z</dcterms:created>
  <dcterms:modified xsi:type="dcterms:W3CDTF">2025-10-23T02:46:04Z</dcterms:modified>
</cp:coreProperties>
</file>